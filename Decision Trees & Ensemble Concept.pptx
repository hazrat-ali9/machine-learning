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8229600" cx="14630400"/>
  <p:notesSz cx="8229600" cy="14630400"/>
  <p:embeddedFontLst>
    <p:embeddedFont>
      <p:font typeface="Marcellus"/>
      <p:regular r:id="rId14"/>
    </p:embeddedFont>
    <p:embeddedFont>
      <p:font typeface="Montserrat"/>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Montserrat-regular.fntdata"/><Relationship Id="rId14" Type="http://schemas.openxmlformats.org/officeDocument/2006/relationships/font" Target="fonts/Marcellus-regular.fntdata"/><Relationship Id="rId17" Type="http://schemas.openxmlformats.org/officeDocument/2006/relationships/font" Target="fonts/Montserrat-italic.fntdata"/><Relationship Id="rId16" Type="http://schemas.openxmlformats.org/officeDocument/2006/relationships/font" Target="fonts/Montserrat-bold.fntdata"/><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font" Target="fonts/Montserrat-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 name="Google Shape;3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b161a7f14b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g3b161a7f14b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g3b161a7f14b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3" name="Shape 13"/>
        <p:cNvGrpSpPr/>
        <p:nvPr/>
      </p:nvGrpSpPr>
      <p:grpSpPr>
        <a:xfrm>
          <a:off x="0" y="0"/>
          <a:ext cx="0" cy="0"/>
          <a:chOff x="0" y="0"/>
          <a:chExt cx="0" cy="0"/>
        </a:xfrm>
      </p:grpSpPr>
      <p:sp>
        <p:nvSpPr>
          <p:cNvPr id="14" name="Google Shape;14;p3"/>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6" name="Shape 16"/>
        <p:cNvGrpSpPr/>
        <p:nvPr/>
      </p:nvGrpSpPr>
      <p:grpSpPr>
        <a:xfrm>
          <a:off x="0" y="0"/>
          <a:ext cx="0" cy="0"/>
          <a:chOff x="0" y="0"/>
          <a:chExt cx="0" cy="0"/>
        </a:xfrm>
      </p:grpSpPr>
      <p:sp>
        <p:nvSpPr>
          <p:cNvPr id="17" name="Google Shape;17;p4"/>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19" name="Shape 19"/>
        <p:cNvGrpSpPr/>
        <p:nvPr/>
      </p:nvGrpSpPr>
      <p:grpSpPr>
        <a:xfrm>
          <a:off x="0" y="0"/>
          <a:ext cx="0" cy="0"/>
          <a:chOff x="0" y="0"/>
          <a:chExt cx="0" cy="0"/>
        </a:xfrm>
      </p:grpSpPr>
      <p:sp>
        <p:nvSpPr>
          <p:cNvPr id="20" name="Google Shape;20;p5"/>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5"/>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2" name="Shape 22"/>
        <p:cNvGrpSpPr/>
        <p:nvPr/>
      </p:nvGrpSpPr>
      <p:grpSpPr>
        <a:xfrm>
          <a:off x="0" y="0"/>
          <a:ext cx="0" cy="0"/>
          <a:chOff x="0" y="0"/>
          <a:chExt cx="0" cy="0"/>
        </a:xfrm>
      </p:grpSpPr>
      <p:sp>
        <p:nvSpPr>
          <p:cNvPr id="23" name="Google Shape;23;p6"/>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6"/>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25" name="Shape 25"/>
        <p:cNvGrpSpPr/>
        <p:nvPr/>
      </p:nvGrpSpPr>
      <p:grpSpPr>
        <a:xfrm>
          <a:off x="0" y="0"/>
          <a:ext cx="0" cy="0"/>
          <a:chOff x="0" y="0"/>
          <a:chExt cx="0" cy="0"/>
        </a:xfrm>
      </p:grpSpPr>
      <p:sp>
        <p:nvSpPr>
          <p:cNvPr id="26" name="Google Shape;26;p7"/>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7"/>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28" name="Shape 28"/>
        <p:cNvGrpSpPr/>
        <p:nvPr/>
      </p:nvGrpSpPr>
      <p:grpSpPr>
        <a:xfrm>
          <a:off x="0" y="0"/>
          <a:ext cx="0" cy="0"/>
          <a:chOff x="0" y="0"/>
          <a:chExt cx="0" cy="0"/>
        </a:xfrm>
      </p:grpSpPr>
      <p:sp>
        <p:nvSpPr>
          <p:cNvPr id="29" name="Google Shape;29;p8"/>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8"/>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1" name="Shape 31"/>
        <p:cNvGrpSpPr/>
        <p:nvPr/>
      </p:nvGrpSpPr>
      <p:grpSpPr>
        <a:xfrm>
          <a:off x="0" y="0"/>
          <a:ext cx="0" cy="0"/>
          <a:chOff x="0" y="0"/>
          <a:chExt cx="0" cy="0"/>
        </a:xfrm>
      </p:grpSpPr>
      <p:sp>
        <p:nvSpPr>
          <p:cNvPr id="32" name="Google Shape;32;p9"/>
          <p:cNvSpPr/>
          <p:nvPr/>
        </p:nvSpPr>
        <p:spPr>
          <a:xfrm>
            <a:off x="0" y="0"/>
            <a:ext cx="14630400" cy="8229600"/>
          </a:xfrm>
          <a:prstGeom prst="rect">
            <a:avLst/>
          </a:prstGeom>
          <a:solidFill>
            <a:srgbClr val="DEC8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9"/>
          <p:cNvSpPr/>
          <p:nvPr/>
        </p:nvSpPr>
        <p:spPr>
          <a:xfrm>
            <a:off x="0" y="0"/>
            <a:ext cx="14630400" cy="8229600"/>
          </a:xfrm>
          <a:prstGeom prst="rect">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4" name="Shape 3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14.pn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pic>
        <p:nvPicPr>
          <p:cNvPr descr="preencoded.png" id="40" name="Google Shape;40;p11"/>
          <p:cNvPicPr preferRelativeResize="0"/>
          <p:nvPr/>
        </p:nvPicPr>
        <p:blipFill rotWithShape="1">
          <a:blip r:embed="rId3">
            <a:alphaModFix/>
          </a:blip>
          <a:srcRect b="0" l="0" r="0" t="0"/>
          <a:stretch/>
        </p:blipFill>
        <p:spPr>
          <a:xfrm>
            <a:off x="0" y="0"/>
            <a:ext cx="5760720" cy="8229600"/>
          </a:xfrm>
          <a:prstGeom prst="rect">
            <a:avLst/>
          </a:prstGeom>
          <a:noFill/>
          <a:ln>
            <a:noFill/>
          </a:ln>
        </p:spPr>
      </p:pic>
      <p:sp>
        <p:nvSpPr>
          <p:cNvPr id="41" name="Google Shape;41;p11"/>
          <p:cNvSpPr/>
          <p:nvPr/>
        </p:nvSpPr>
        <p:spPr>
          <a:xfrm>
            <a:off x="6280190" y="2949535"/>
            <a:ext cx="7556421" cy="1695450"/>
          </a:xfrm>
          <a:prstGeom prst="rect">
            <a:avLst/>
          </a:prstGeom>
          <a:noFill/>
          <a:ln>
            <a:noFill/>
          </a:ln>
        </p:spPr>
        <p:txBody>
          <a:bodyPr anchorCtr="0" anchor="t" bIns="0" lIns="0" spcFirstLastPara="1" rIns="0" wrap="square" tIns="0">
            <a:noAutofit/>
          </a:bodyPr>
          <a:lstStyle/>
          <a:p>
            <a:pPr indent="0" lvl="0" marL="0" marR="0" rtl="0" algn="l">
              <a:lnSpc>
                <a:spcPct val="130392"/>
              </a:lnSpc>
              <a:spcBef>
                <a:spcPts val="0"/>
              </a:spcBef>
              <a:spcAft>
                <a:spcPts val="0"/>
              </a:spcAft>
              <a:buClr>
                <a:srgbClr val="532418"/>
              </a:buClr>
              <a:buSzPts val="5100"/>
              <a:buFont typeface="Marcellus"/>
              <a:buNone/>
            </a:pPr>
            <a:r>
              <a:rPr b="0" i="0" lang="en-US" sz="5100" u="none" cap="none" strike="noStrike">
                <a:solidFill>
                  <a:srgbClr val="532418"/>
                </a:solidFill>
                <a:latin typeface="Marcellus"/>
                <a:ea typeface="Marcellus"/>
                <a:cs typeface="Marcellus"/>
                <a:sym typeface="Marcellus"/>
              </a:rPr>
              <a:t>Decision Trees &amp; Ensemble Concept</a:t>
            </a:r>
            <a:endParaRPr b="0" i="0" sz="5100" u="none" cap="none" strike="noStrike"/>
          </a:p>
        </p:txBody>
      </p:sp>
      <p:sp>
        <p:nvSpPr>
          <p:cNvPr id="42" name="Google Shape;42;p11"/>
          <p:cNvSpPr/>
          <p:nvPr/>
        </p:nvSpPr>
        <p:spPr>
          <a:xfrm>
            <a:off x="6280190" y="4985147"/>
            <a:ext cx="7556421" cy="294799"/>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SzPts val="1750"/>
              <a:buFont typeface="Arial"/>
              <a:buNone/>
            </a:pPr>
            <a:r>
              <a:t/>
            </a:r>
            <a:endParaRPr b="0" i="0" sz="175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12"/>
          <p:cNvSpPr/>
          <p:nvPr/>
        </p:nvSpPr>
        <p:spPr>
          <a:xfrm>
            <a:off x="748784" y="725805"/>
            <a:ext cx="6743105" cy="799505"/>
          </a:xfrm>
          <a:prstGeom prst="rect">
            <a:avLst/>
          </a:prstGeom>
          <a:noFill/>
          <a:ln>
            <a:noFill/>
          </a:ln>
        </p:spPr>
        <p:txBody>
          <a:bodyPr anchorCtr="0" anchor="t" bIns="0" lIns="0" spcFirstLastPara="1" rIns="0" wrap="square" tIns="0">
            <a:noAutofit/>
          </a:bodyPr>
          <a:lstStyle/>
          <a:p>
            <a:pPr indent="0" lvl="0" marL="0" marR="0" rtl="0" algn="l">
              <a:lnSpc>
                <a:spcPct val="130208"/>
              </a:lnSpc>
              <a:spcBef>
                <a:spcPts val="0"/>
              </a:spcBef>
              <a:spcAft>
                <a:spcPts val="0"/>
              </a:spcAft>
              <a:buClr>
                <a:srgbClr val="532418"/>
              </a:buClr>
              <a:buSzPts val="4800"/>
              <a:buFont typeface="Marcellus"/>
              <a:buNone/>
            </a:pPr>
            <a:r>
              <a:rPr b="0" i="0" lang="en-US" sz="4800" u="none" cap="none" strike="noStrike">
                <a:solidFill>
                  <a:srgbClr val="532418"/>
                </a:solidFill>
                <a:latin typeface="Marcellus"/>
                <a:ea typeface="Marcellus"/>
                <a:cs typeface="Marcellus"/>
                <a:sym typeface="Marcellus"/>
              </a:rPr>
              <a:t>What is a Decision Tree?</a:t>
            </a:r>
            <a:endParaRPr b="0" i="0" sz="4800" u="none" cap="none" strike="noStrike"/>
          </a:p>
        </p:txBody>
      </p:sp>
      <p:sp>
        <p:nvSpPr>
          <p:cNvPr id="49" name="Google Shape;49;p12"/>
          <p:cNvSpPr/>
          <p:nvPr/>
        </p:nvSpPr>
        <p:spPr>
          <a:xfrm>
            <a:off x="748784" y="1846183"/>
            <a:ext cx="13132832" cy="834390"/>
          </a:xfrm>
          <a:prstGeom prst="rect">
            <a:avLst/>
          </a:prstGeom>
          <a:noFill/>
          <a:ln>
            <a:noFill/>
          </a:ln>
        </p:spPr>
        <p:txBody>
          <a:bodyPr anchorCtr="0" anchor="t" bIns="0" lIns="0" spcFirstLastPara="1" rIns="0" wrap="square" tIns="0">
            <a:noAutofit/>
          </a:bodyPr>
          <a:lstStyle/>
          <a:p>
            <a:pPr indent="0" lvl="0" marL="0" marR="0" rtl="0" algn="l">
              <a:lnSpc>
                <a:spcPct val="130303"/>
              </a:lnSpc>
              <a:spcBef>
                <a:spcPts val="0"/>
              </a:spcBef>
              <a:spcAft>
                <a:spcPts val="0"/>
              </a:spcAft>
              <a:buClr>
                <a:srgbClr val="67534F"/>
              </a:buClr>
              <a:buSzPts val="1650"/>
              <a:buFont typeface="Montserrat"/>
              <a:buNone/>
            </a:pPr>
            <a:r>
              <a:rPr b="0" i="0" lang="en-US" sz="1650" u="none" cap="none" strike="noStrike">
                <a:solidFill>
                  <a:srgbClr val="67534F"/>
                </a:solidFill>
                <a:latin typeface="Montserrat"/>
                <a:ea typeface="Montserrat"/>
                <a:cs typeface="Montserrat"/>
                <a:sym typeface="Montserrat"/>
              </a:rPr>
              <a:t>A decision tree is a tree-structured model that uses a series of decision rules to make predictions. At each internal node, the tree evaluates a feature and splits the data based on a condition. These splits continue until reaching leaf nodes, where the final output or prediction is produced. Think of it like a flowchart that asks yes/no questions to reach a conclusion.</a:t>
            </a:r>
            <a:endParaRPr b="0" i="0" sz="1650" u="none" cap="none" strike="noStrike"/>
          </a:p>
        </p:txBody>
      </p:sp>
      <p:sp>
        <p:nvSpPr>
          <p:cNvPr id="50" name="Google Shape;50;p12"/>
          <p:cNvSpPr/>
          <p:nvPr/>
        </p:nvSpPr>
        <p:spPr>
          <a:xfrm>
            <a:off x="748784" y="3242072"/>
            <a:ext cx="6459498" cy="1863447"/>
          </a:xfrm>
          <a:prstGeom prst="roundRect">
            <a:avLst>
              <a:gd fmla="val 7851" name="adj"/>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12"/>
          <p:cNvSpPr/>
          <p:nvPr/>
        </p:nvSpPr>
        <p:spPr>
          <a:xfrm>
            <a:off x="748784" y="3211592"/>
            <a:ext cx="6459498" cy="121920"/>
          </a:xfrm>
          <a:prstGeom prst="roundRect">
            <a:avLst>
              <a:gd fmla="val 73704"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2"/>
          <p:cNvSpPr/>
          <p:nvPr/>
        </p:nvSpPr>
        <p:spPr>
          <a:xfrm>
            <a:off x="3657600" y="2921198"/>
            <a:ext cx="641747" cy="641747"/>
          </a:xfrm>
          <a:prstGeom prst="roundRect">
            <a:avLst>
              <a:gd fmla="val 142486"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3" name="Google Shape;53;p12"/>
          <p:cNvPicPr preferRelativeResize="0"/>
          <p:nvPr/>
        </p:nvPicPr>
        <p:blipFill rotWithShape="1">
          <a:blip r:embed="rId3">
            <a:alphaModFix/>
          </a:blip>
          <a:srcRect b="0" l="0" r="0" t="0"/>
          <a:stretch/>
        </p:blipFill>
        <p:spPr>
          <a:xfrm>
            <a:off x="3850124" y="3113603"/>
            <a:ext cx="256699" cy="256699"/>
          </a:xfrm>
          <a:prstGeom prst="rect">
            <a:avLst/>
          </a:prstGeom>
          <a:noFill/>
          <a:ln>
            <a:noFill/>
          </a:ln>
        </p:spPr>
      </p:pic>
      <p:sp>
        <p:nvSpPr>
          <p:cNvPr id="54" name="Google Shape;54;p12"/>
          <p:cNvSpPr/>
          <p:nvPr/>
        </p:nvSpPr>
        <p:spPr>
          <a:xfrm>
            <a:off x="993100" y="3776901"/>
            <a:ext cx="3075503" cy="399693"/>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67534F"/>
              </a:buClr>
              <a:buSzPts val="2400"/>
              <a:buFont typeface="Marcellus"/>
              <a:buNone/>
            </a:pPr>
            <a:r>
              <a:rPr b="0" i="0" lang="en-US" sz="2400" u="none" cap="none" strike="noStrike">
                <a:solidFill>
                  <a:srgbClr val="67534F"/>
                </a:solidFill>
                <a:latin typeface="Marcellus"/>
                <a:ea typeface="Marcellus"/>
                <a:cs typeface="Marcellus"/>
                <a:sym typeface="Marcellus"/>
              </a:rPr>
              <a:t>Root Node</a:t>
            </a:r>
            <a:endParaRPr b="0" i="0" sz="2400" u="none" cap="none" strike="noStrike"/>
          </a:p>
        </p:txBody>
      </p:sp>
      <p:sp>
        <p:nvSpPr>
          <p:cNvPr id="55" name="Google Shape;55;p12"/>
          <p:cNvSpPr/>
          <p:nvPr/>
        </p:nvSpPr>
        <p:spPr>
          <a:xfrm>
            <a:off x="993100" y="4304943"/>
            <a:ext cx="5970865" cy="278130"/>
          </a:xfrm>
          <a:prstGeom prst="rect">
            <a:avLst/>
          </a:prstGeom>
          <a:noFill/>
          <a:ln>
            <a:noFill/>
          </a:ln>
        </p:spPr>
        <p:txBody>
          <a:bodyPr anchorCtr="0" anchor="t" bIns="0" lIns="0" spcFirstLastPara="1" rIns="0" wrap="square" tIns="0">
            <a:noAutofit/>
          </a:bodyPr>
          <a:lstStyle/>
          <a:p>
            <a:pPr indent="0" lvl="0" marL="0" marR="0" rtl="0" algn="l">
              <a:lnSpc>
                <a:spcPct val="130303"/>
              </a:lnSpc>
              <a:spcBef>
                <a:spcPts val="0"/>
              </a:spcBef>
              <a:spcAft>
                <a:spcPts val="0"/>
              </a:spcAft>
              <a:buClr>
                <a:srgbClr val="67534F"/>
              </a:buClr>
              <a:buSzPts val="1650"/>
              <a:buFont typeface="Montserrat"/>
              <a:buNone/>
            </a:pPr>
            <a:r>
              <a:rPr b="0" i="0" lang="en-US" sz="1650" u="none" cap="none" strike="noStrike">
                <a:solidFill>
                  <a:srgbClr val="67534F"/>
                </a:solidFill>
                <a:latin typeface="Montserrat"/>
                <a:ea typeface="Montserrat"/>
                <a:cs typeface="Montserrat"/>
                <a:sym typeface="Montserrat"/>
              </a:rPr>
              <a:t>Starting point where the first decision is made</a:t>
            </a:r>
            <a:endParaRPr b="0" i="0" sz="1650" u="none" cap="none" strike="noStrike"/>
          </a:p>
        </p:txBody>
      </p:sp>
      <p:sp>
        <p:nvSpPr>
          <p:cNvPr id="56" name="Google Shape;56;p12"/>
          <p:cNvSpPr/>
          <p:nvPr/>
        </p:nvSpPr>
        <p:spPr>
          <a:xfrm>
            <a:off x="7422118" y="3242072"/>
            <a:ext cx="6459498" cy="1863447"/>
          </a:xfrm>
          <a:prstGeom prst="roundRect">
            <a:avLst>
              <a:gd fmla="val 7851" name="adj"/>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2"/>
          <p:cNvSpPr/>
          <p:nvPr/>
        </p:nvSpPr>
        <p:spPr>
          <a:xfrm>
            <a:off x="7422118" y="3211592"/>
            <a:ext cx="6459498" cy="121920"/>
          </a:xfrm>
          <a:prstGeom prst="roundRect">
            <a:avLst>
              <a:gd fmla="val 73704"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2"/>
          <p:cNvSpPr/>
          <p:nvPr/>
        </p:nvSpPr>
        <p:spPr>
          <a:xfrm>
            <a:off x="10330934" y="2921198"/>
            <a:ext cx="641747" cy="641747"/>
          </a:xfrm>
          <a:prstGeom prst="roundRect">
            <a:avLst>
              <a:gd fmla="val 142486"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9" name="Google Shape;59;p12"/>
          <p:cNvPicPr preferRelativeResize="0"/>
          <p:nvPr/>
        </p:nvPicPr>
        <p:blipFill rotWithShape="1">
          <a:blip r:embed="rId4">
            <a:alphaModFix/>
          </a:blip>
          <a:srcRect b="0" l="0" r="0" t="0"/>
          <a:stretch/>
        </p:blipFill>
        <p:spPr>
          <a:xfrm>
            <a:off x="10523458" y="3113603"/>
            <a:ext cx="256699" cy="256699"/>
          </a:xfrm>
          <a:prstGeom prst="rect">
            <a:avLst/>
          </a:prstGeom>
          <a:noFill/>
          <a:ln>
            <a:noFill/>
          </a:ln>
        </p:spPr>
      </p:pic>
      <p:sp>
        <p:nvSpPr>
          <p:cNvPr id="60" name="Google Shape;60;p12"/>
          <p:cNvSpPr/>
          <p:nvPr/>
        </p:nvSpPr>
        <p:spPr>
          <a:xfrm>
            <a:off x="7666434" y="3776901"/>
            <a:ext cx="3075503" cy="399693"/>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67534F"/>
              </a:buClr>
              <a:buSzPts val="2400"/>
              <a:buFont typeface="Marcellus"/>
              <a:buNone/>
            </a:pPr>
            <a:r>
              <a:rPr b="0" i="0" lang="en-US" sz="2400" u="none" cap="none" strike="noStrike">
                <a:solidFill>
                  <a:srgbClr val="67534F"/>
                </a:solidFill>
                <a:latin typeface="Marcellus"/>
                <a:ea typeface="Marcellus"/>
                <a:cs typeface="Marcellus"/>
                <a:sym typeface="Marcellus"/>
              </a:rPr>
              <a:t>Internal Nodes</a:t>
            </a:r>
            <a:endParaRPr b="0" i="0" sz="2400" u="none" cap="none" strike="noStrike"/>
          </a:p>
        </p:txBody>
      </p:sp>
      <p:sp>
        <p:nvSpPr>
          <p:cNvPr id="61" name="Google Shape;61;p12"/>
          <p:cNvSpPr/>
          <p:nvPr/>
        </p:nvSpPr>
        <p:spPr>
          <a:xfrm>
            <a:off x="7666434" y="4304943"/>
            <a:ext cx="5970865" cy="556260"/>
          </a:xfrm>
          <a:prstGeom prst="rect">
            <a:avLst/>
          </a:prstGeom>
          <a:noFill/>
          <a:ln>
            <a:noFill/>
          </a:ln>
        </p:spPr>
        <p:txBody>
          <a:bodyPr anchorCtr="0" anchor="t" bIns="0" lIns="0" spcFirstLastPara="1" rIns="0" wrap="square" tIns="0">
            <a:noAutofit/>
          </a:bodyPr>
          <a:lstStyle/>
          <a:p>
            <a:pPr indent="0" lvl="0" marL="0" marR="0" rtl="0" algn="l">
              <a:lnSpc>
                <a:spcPct val="130303"/>
              </a:lnSpc>
              <a:spcBef>
                <a:spcPts val="0"/>
              </a:spcBef>
              <a:spcAft>
                <a:spcPts val="0"/>
              </a:spcAft>
              <a:buClr>
                <a:srgbClr val="67534F"/>
              </a:buClr>
              <a:buSzPts val="1650"/>
              <a:buFont typeface="Montserrat"/>
              <a:buNone/>
            </a:pPr>
            <a:r>
              <a:rPr b="0" i="0" lang="en-US" sz="1650" u="none" cap="none" strike="noStrike">
                <a:solidFill>
                  <a:srgbClr val="67534F"/>
                </a:solidFill>
                <a:latin typeface="Montserrat"/>
                <a:ea typeface="Montserrat"/>
                <a:cs typeface="Montserrat"/>
                <a:sym typeface="Montserrat"/>
              </a:rPr>
              <a:t>Decision points that split data based on feature conditions</a:t>
            </a:r>
            <a:endParaRPr b="0" i="0" sz="1650" u="none" cap="none" strike="noStrike"/>
          </a:p>
        </p:txBody>
      </p:sp>
      <p:sp>
        <p:nvSpPr>
          <p:cNvPr id="62" name="Google Shape;62;p12"/>
          <p:cNvSpPr/>
          <p:nvPr/>
        </p:nvSpPr>
        <p:spPr>
          <a:xfrm>
            <a:off x="748784" y="5640229"/>
            <a:ext cx="6459498" cy="1863447"/>
          </a:xfrm>
          <a:prstGeom prst="roundRect">
            <a:avLst>
              <a:gd fmla="val 7851" name="adj"/>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2"/>
          <p:cNvSpPr/>
          <p:nvPr/>
        </p:nvSpPr>
        <p:spPr>
          <a:xfrm>
            <a:off x="748784" y="5609749"/>
            <a:ext cx="6459498" cy="121920"/>
          </a:xfrm>
          <a:prstGeom prst="roundRect">
            <a:avLst>
              <a:gd fmla="val 73704"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2"/>
          <p:cNvSpPr/>
          <p:nvPr/>
        </p:nvSpPr>
        <p:spPr>
          <a:xfrm>
            <a:off x="3657600" y="5319355"/>
            <a:ext cx="641747" cy="641747"/>
          </a:xfrm>
          <a:prstGeom prst="roundRect">
            <a:avLst>
              <a:gd fmla="val 142486"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5" name="Google Shape;65;p12"/>
          <p:cNvPicPr preferRelativeResize="0"/>
          <p:nvPr/>
        </p:nvPicPr>
        <p:blipFill rotWithShape="1">
          <a:blip r:embed="rId5">
            <a:alphaModFix/>
          </a:blip>
          <a:srcRect b="0" l="0" r="0" t="0"/>
          <a:stretch/>
        </p:blipFill>
        <p:spPr>
          <a:xfrm>
            <a:off x="3850124" y="5511760"/>
            <a:ext cx="256699" cy="256699"/>
          </a:xfrm>
          <a:prstGeom prst="rect">
            <a:avLst/>
          </a:prstGeom>
          <a:noFill/>
          <a:ln>
            <a:noFill/>
          </a:ln>
        </p:spPr>
      </p:pic>
      <p:sp>
        <p:nvSpPr>
          <p:cNvPr id="66" name="Google Shape;66;p12"/>
          <p:cNvSpPr/>
          <p:nvPr/>
        </p:nvSpPr>
        <p:spPr>
          <a:xfrm>
            <a:off x="993100" y="6175058"/>
            <a:ext cx="3075503" cy="399693"/>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67534F"/>
              </a:buClr>
              <a:buSzPts val="2400"/>
              <a:buFont typeface="Marcellus"/>
              <a:buNone/>
            </a:pPr>
            <a:r>
              <a:rPr b="0" i="0" lang="en-US" sz="2400" u="none" cap="none" strike="noStrike">
                <a:solidFill>
                  <a:srgbClr val="67534F"/>
                </a:solidFill>
                <a:latin typeface="Marcellus"/>
                <a:ea typeface="Marcellus"/>
                <a:cs typeface="Marcellus"/>
                <a:sym typeface="Marcellus"/>
              </a:rPr>
              <a:t>Branches</a:t>
            </a:r>
            <a:endParaRPr b="0" i="0" sz="2400" u="none" cap="none" strike="noStrike"/>
          </a:p>
        </p:txBody>
      </p:sp>
      <p:sp>
        <p:nvSpPr>
          <p:cNvPr id="67" name="Google Shape;67;p12"/>
          <p:cNvSpPr/>
          <p:nvPr/>
        </p:nvSpPr>
        <p:spPr>
          <a:xfrm>
            <a:off x="993100" y="6703100"/>
            <a:ext cx="5970865" cy="278130"/>
          </a:xfrm>
          <a:prstGeom prst="rect">
            <a:avLst/>
          </a:prstGeom>
          <a:noFill/>
          <a:ln>
            <a:noFill/>
          </a:ln>
        </p:spPr>
        <p:txBody>
          <a:bodyPr anchorCtr="0" anchor="t" bIns="0" lIns="0" spcFirstLastPara="1" rIns="0" wrap="square" tIns="0">
            <a:noAutofit/>
          </a:bodyPr>
          <a:lstStyle/>
          <a:p>
            <a:pPr indent="0" lvl="0" marL="0" marR="0" rtl="0" algn="l">
              <a:lnSpc>
                <a:spcPct val="130303"/>
              </a:lnSpc>
              <a:spcBef>
                <a:spcPts val="0"/>
              </a:spcBef>
              <a:spcAft>
                <a:spcPts val="0"/>
              </a:spcAft>
              <a:buClr>
                <a:srgbClr val="67534F"/>
              </a:buClr>
              <a:buSzPts val="1650"/>
              <a:buFont typeface="Montserrat"/>
              <a:buNone/>
            </a:pPr>
            <a:r>
              <a:rPr b="0" i="0" lang="en-US" sz="1650" u="none" cap="none" strike="noStrike">
                <a:solidFill>
                  <a:srgbClr val="67534F"/>
                </a:solidFill>
                <a:latin typeface="Montserrat"/>
                <a:ea typeface="Montserrat"/>
                <a:cs typeface="Montserrat"/>
                <a:sym typeface="Montserrat"/>
              </a:rPr>
              <a:t>Paths representing different outcomes of decisions</a:t>
            </a:r>
            <a:endParaRPr b="0" i="0" sz="1650" u="none" cap="none" strike="noStrike"/>
          </a:p>
        </p:txBody>
      </p:sp>
      <p:sp>
        <p:nvSpPr>
          <p:cNvPr id="68" name="Google Shape;68;p12"/>
          <p:cNvSpPr/>
          <p:nvPr/>
        </p:nvSpPr>
        <p:spPr>
          <a:xfrm>
            <a:off x="7422118" y="5640229"/>
            <a:ext cx="6459498" cy="1863447"/>
          </a:xfrm>
          <a:prstGeom prst="roundRect">
            <a:avLst>
              <a:gd fmla="val 7851" name="adj"/>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2"/>
          <p:cNvSpPr/>
          <p:nvPr/>
        </p:nvSpPr>
        <p:spPr>
          <a:xfrm>
            <a:off x="7422118" y="5609749"/>
            <a:ext cx="6459498" cy="121920"/>
          </a:xfrm>
          <a:prstGeom prst="roundRect">
            <a:avLst>
              <a:gd fmla="val 73704"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2"/>
          <p:cNvSpPr/>
          <p:nvPr/>
        </p:nvSpPr>
        <p:spPr>
          <a:xfrm>
            <a:off x="10330934" y="5319355"/>
            <a:ext cx="641747" cy="641747"/>
          </a:xfrm>
          <a:prstGeom prst="roundRect">
            <a:avLst>
              <a:gd fmla="val 142486"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1" name="Google Shape;71;p12"/>
          <p:cNvPicPr preferRelativeResize="0"/>
          <p:nvPr/>
        </p:nvPicPr>
        <p:blipFill rotWithShape="1">
          <a:blip r:embed="rId6">
            <a:alphaModFix/>
          </a:blip>
          <a:srcRect b="0" l="0" r="0" t="0"/>
          <a:stretch/>
        </p:blipFill>
        <p:spPr>
          <a:xfrm>
            <a:off x="10523458" y="5511760"/>
            <a:ext cx="256699" cy="256699"/>
          </a:xfrm>
          <a:prstGeom prst="rect">
            <a:avLst/>
          </a:prstGeom>
          <a:noFill/>
          <a:ln>
            <a:noFill/>
          </a:ln>
        </p:spPr>
      </p:pic>
      <p:sp>
        <p:nvSpPr>
          <p:cNvPr id="72" name="Google Shape;72;p12"/>
          <p:cNvSpPr/>
          <p:nvPr/>
        </p:nvSpPr>
        <p:spPr>
          <a:xfrm>
            <a:off x="7666434" y="6175058"/>
            <a:ext cx="3075503" cy="399693"/>
          </a:xfrm>
          <a:prstGeom prst="rect">
            <a:avLst/>
          </a:prstGeom>
          <a:noFill/>
          <a:ln>
            <a:noFill/>
          </a:ln>
        </p:spPr>
        <p:txBody>
          <a:bodyPr anchorCtr="0" anchor="t" bIns="0" lIns="0" spcFirstLastPara="1" rIns="0" wrap="square" tIns="0">
            <a:noAutofit/>
          </a:bodyPr>
          <a:lstStyle/>
          <a:p>
            <a:pPr indent="0" lvl="0" marL="0" marR="0" rtl="0" algn="l">
              <a:lnSpc>
                <a:spcPct val="129166"/>
              </a:lnSpc>
              <a:spcBef>
                <a:spcPts val="0"/>
              </a:spcBef>
              <a:spcAft>
                <a:spcPts val="0"/>
              </a:spcAft>
              <a:buClr>
                <a:srgbClr val="67534F"/>
              </a:buClr>
              <a:buSzPts val="2400"/>
              <a:buFont typeface="Marcellus"/>
              <a:buNone/>
            </a:pPr>
            <a:r>
              <a:rPr b="0" i="0" lang="en-US" sz="2400" u="none" cap="none" strike="noStrike">
                <a:solidFill>
                  <a:srgbClr val="67534F"/>
                </a:solidFill>
                <a:latin typeface="Marcellus"/>
                <a:ea typeface="Marcellus"/>
                <a:cs typeface="Marcellus"/>
                <a:sym typeface="Marcellus"/>
              </a:rPr>
              <a:t>Leaf Nodes</a:t>
            </a:r>
            <a:endParaRPr b="0" i="0" sz="2400" u="none" cap="none" strike="noStrike"/>
          </a:p>
        </p:txBody>
      </p:sp>
      <p:sp>
        <p:nvSpPr>
          <p:cNvPr id="73" name="Google Shape;73;p12"/>
          <p:cNvSpPr/>
          <p:nvPr/>
        </p:nvSpPr>
        <p:spPr>
          <a:xfrm>
            <a:off x="7666434" y="6703100"/>
            <a:ext cx="5970865" cy="556260"/>
          </a:xfrm>
          <a:prstGeom prst="rect">
            <a:avLst/>
          </a:prstGeom>
          <a:noFill/>
          <a:ln>
            <a:noFill/>
          </a:ln>
        </p:spPr>
        <p:txBody>
          <a:bodyPr anchorCtr="0" anchor="t" bIns="0" lIns="0" spcFirstLastPara="1" rIns="0" wrap="square" tIns="0">
            <a:noAutofit/>
          </a:bodyPr>
          <a:lstStyle/>
          <a:p>
            <a:pPr indent="0" lvl="0" marL="0" marR="0" rtl="0" algn="l">
              <a:lnSpc>
                <a:spcPct val="130303"/>
              </a:lnSpc>
              <a:spcBef>
                <a:spcPts val="0"/>
              </a:spcBef>
              <a:spcAft>
                <a:spcPts val="0"/>
              </a:spcAft>
              <a:buClr>
                <a:srgbClr val="67534F"/>
              </a:buClr>
              <a:buSzPts val="1650"/>
              <a:buFont typeface="Montserrat"/>
              <a:buNone/>
            </a:pPr>
            <a:r>
              <a:rPr b="0" i="0" lang="en-US" sz="1650" u="none" cap="none" strike="noStrike">
                <a:solidFill>
                  <a:srgbClr val="67534F"/>
                </a:solidFill>
                <a:latin typeface="Montserrat"/>
                <a:ea typeface="Montserrat"/>
                <a:cs typeface="Montserrat"/>
                <a:sym typeface="Montserrat"/>
              </a:rPr>
              <a:t>Terminal points that provide the final prediction or classification</a:t>
            </a:r>
            <a:endParaRPr b="0" i="0" sz="16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3"/>
          <p:cNvSpPr/>
          <p:nvPr/>
        </p:nvSpPr>
        <p:spPr>
          <a:xfrm>
            <a:off x="753427" y="591979"/>
            <a:ext cx="9946838" cy="804505"/>
          </a:xfrm>
          <a:prstGeom prst="rect">
            <a:avLst/>
          </a:prstGeom>
          <a:noFill/>
          <a:ln>
            <a:noFill/>
          </a:ln>
        </p:spPr>
        <p:txBody>
          <a:bodyPr anchorCtr="0" anchor="t" bIns="0" lIns="0" spcFirstLastPara="1" rIns="0" wrap="square" tIns="0">
            <a:noAutofit/>
          </a:bodyPr>
          <a:lstStyle/>
          <a:p>
            <a:pPr indent="0" lvl="0" marL="0" marR="0" rtl="0" algn="l">
              <a:lnSpc>
                <a:spcPct val="129896"/>
              </a:lnSpc>
              <a:spcBef>
                <a:spcPts val="0"/>
              </a:spcBef>
              <a:spcAft>
                <a:spcPts val="0"/>
              </a:spcAft>
              <a:buClr>
                <a:srgbClr val="532418"/>
              </a:buClr>
              <a:buSzPts val="4850"/>
              <a:buFont typeface="Marcellus"/>
              <a:buNone/>
            </a:pPr>
            <a:r>
              <a:rPr b="0" i="0" lang="en-US" sz="4850" u="none" cap="none" strike="noStrike">
                <a:solidFill>
                  <a:srgbClr val="532418"/>
                </a:solidFill>
                <a:latin typeface="Marcellus"/>
                <a:ea typeface="Marcellus"/>
                <a:cs typeface="Marcellus"/>
                <a:sym typeface="Marcellus"/>
              </a:rPr>
              <a:t>How Decision Trees Make Decisions</a:t>
            </a:r>
            <a:endParaRPr b="0" i="0" sz="4850" u="none" cap="none" strike="noStrike"/>
          </a:p>
        </p:txBody>
      </p:sp>
      <p:sp>
        <p:nvSpPr>
          <p:cNvPr id="80" name="Google Shape;80;p13"/>
          <p:cNvSpPr/>
          <p:nvPr/>
        </p:nvSpPr>
        <p:spPr>
          <a:xfrm>
            <a:off x="753427" y="1482566"/>
            <a:ext cx="3713321" cy="482679"/>
          </a:xfrm>
          <a:prstGeom prst="rect">
            <a:avLst/>
          </a:prstGeom>
          <a:noFill/>
          <a:ln>
            <a:noFill/>
          </a:ln>
        </p:spPr>
        <p:txBody>
          <a:bodyPr anchorCtr="0" anchor="t" bIns="0" lIns="0" spcFirstLastPara="1" rIns="0" wrap="square" tIns="0">
            <a:noAutofit/>
          </a:bodyPr>
          <a:lstStyle/>
          <a:p>
            <a:pPr indent="0" lvl="0" marL="0" marR="0" rtl="0" algn="l">
              <a:lnSpc>
                <a:spcPct val="131034"/>
              </a:lnSpc>
              <a:spcBef>
                <a:spcPts val="0"/>
              </a:spcBef>
              <a:spcAft>
                <a:spcPts val="0"/>
              </a:spcAft>
              <a:buClr>
                <a:srgbClr val="532418"/>
              </a:buClr>
              <a:buSzPts val="2900"/>
              <a:buFont typeface="Marcellus"/>
              <a:buNone/>
            </a:pPr>
            <a:r>
              <a:rPr b="0" i="0" lang="en-US" sz="2900" u="none" cap="none" strike="noStrike">
                <a:solidFill>
                  <a:srgbClr val="532418"/>
                </a:solidFill>
                <a:latin typeface="Marcellus"/>
                <a:ea typeface="Marcellus"/>
                <a:cs typeface="Marcellus"/>
                <a:sym typeface="Marcellus"/>
              </a:rPr>
              <a:t>The Splitting Process</a:t>
            </a:r>
            <a:endParaRPr b="0" i="0" sz="2900" u="none" cap="none" strike="noStrike"/>
          </a:p>
        </p:txBody>
      </p:sp>
      <p:sp>
        <p:nvSpPr>
          <p:cNvPr id="81" name="Google Shape;81;p13"/>
          <p:cNvSpPr/>
          <p:nvPr/>
        </p:nvSpPr>
        <p:spPr>
          <a:xfrm>
            <a:off x="753427" y="2288143"/>
            <a:ext cx="13123545" cy="559594"/>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67534F"/>
              </a:buClr>
              <a:buSzPts val="1650"/>
              <a:buFont typeface="Montserrat"/>
              <a:buNone/>
            </a:pPr>
            <a:r>
              <a:rPr b="0" i="0" lang="en-US" sz="1650" u="none" cap="none" strike="noStrike">
                <a:solidFill>
                  <a:srgbClr val="67534F"/>
                </a:solidFill>
                <a:latin typeface="Montserrat"/>
                <a:ea typeface="Montserrat"/>
                <a:cs typeface="Montserrat"/>
                <a:sym typeface="Montserrat"/>
              </a:rPr>
              <a:t>At each node, the algorithm examines all possible ways to split the data based on features. It evaluates each potential split using a purity measure like Gini impurity or information gain.</a:t>
            </a:r>
            <a:endParaRPr b="0" i="0" sz="1650" u="none" cap="none" strike="noStrike"/>
          </a:p>
        </p:txBody>
      </p:sp>
      <p:sp>
        <p:nvSpPr>
          <p:cNvPr id="82" name="Google Shape;82;p13"/>
          <p:cNvSpPr/>
          <p:nvPr/>
        </p:nvSpPr>
        <p:spPr>
          <a:xfrm>
            <a:off x="753427" y="3089910"/>
            <a:ext cx="13123545" cy="559594"/>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67534F"/>
              </a:buClr>
              <a:buSzPts val="1650"/>
              <a:buFont typeface="Montserrat"/>
              <a:buNone/>
            </a:pPr>
            <a:r>
              <a:rPr b="0" i="0" lang="en-US" sz="1650" u="none" cap="none" strike="noStrike">
                <a:solidFill>
                  <a:srgbClr val="67534F"/>
                </a:solidFill>
                <a:latin typeface="Montserrat"/>
                <a:ea typeface="Montserrat"/>
                <a:cs typeface="Montserrat"/>
                <a:sym typeface="Montserrat"/>
              </a:rPr>
              <a:t>The algorithm greedily selects the split that creates the most homogeneous groups—the one that best separates different classes or reduces variance in the target variable.</a:t>
            </a:r>
            <a:endParaRPr b="0" i="0" sz="1650" u="none" cap="none" strike="noStrike"/>
          </a:p>
        </p:txBody>
      </p:sp>
      <p:sp>
        <p:nvSpPr>
          <p:cNvPr id="83" name="Google Shape;83;p13"/>
          <p:cNvSpPr/>
          <p:nvPr/>
        </p:nvSpPr>
        <p:spPr>
          <a:xfrm>
            <a:off x="753422" y="3891675"/>
            <a:ext cx="509100" cy="279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67534F"/>
              </a:buClr>
              <a:buSzPts val="1650"/>
              <a:buFont typeface="Marcellus"/>
              <a:buNone/>
            </a:pPr>
            <a:r>
              <a:rPr b="0" i="0" lang="en-US" sz="1650" u="none" cap="none" strike="noStrike">
                <a:solidFill>
                  <a:srgbClr val="67534F"/>
                </a:solidFill>
                <a:latin typeface="Marcellus"/>
                <a:ea typeface="Marcellus"/>
                <a:cs typeface="Marcellus"/>
                <a:sym typeface="Marcellus"/>
              </a:rPr>
              <a:t>01</a:t>
            </a:r>
            <a:endParaRPr b="0" i="0" sz="1650" u="none" cap="none" strike="noStrike"/>
          </a:p>
        </p:txBody>
      </p:sp>
      <p:sp>
        <p:nvSpPr>
          <p:cNvPr id="84" name="Google Shape;84;p13"/>
          <p:cNvSpPr/>
          <p:nvPr/>
        </p:nvSpPr>
        <p:spPr>
          <a:xfrm>
            <a:off x="753427" y="4237792"/>
            <a:ext cx="6454140" cy="30480"/>
          </a:xfrm>
          <a:prstGeom prst="rect">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3"/>
          <p:cNvSpPr/>
          <p:nvPr/>
        </p:nvSpPr>
        <p:spPr>
          <a:xfrm>
            <a:off x="753427" y="4406384"/>
            <a:ext cx="3094434" cy="402193"/>
          </a:xfrm>
          <a:prstGeom prst="rect">
            <a:avLst/>
          </a:prstGeom>
          <a:noFill/>
          <a:ln>
            <a:noFill/>
          </a:ln>
        </p:spPr>
        <p:txBody>
          <a:bodyPr anchorCtr="0" anchor="t" bIns="0" lIns="0" spcFirstLastPara="1" rIns="0" wrap="square" tIns="0">
            <a:noAutofit/>
          </a:bodyPr>
          <a:lstStyle/>
          <a:p>
            <a:pPr indent="0" lvl="0" marL="0" marR="0" rtl="0" algn="l">
              <a:lnSpc>
                <a:spcPct val="131250"/>
              </a:lnSpc>
              <a:spcBef>
                <a:spcPts val="0"/>
              </a:spcBef>
              <a:spcAft>
                <a:spcPts val="0"/>
              </a:spcAft>
              <a:buClr>
                <a:srgbClr val="67534F"/>
              </a:buClr>
              <a:buSzPts val="2400"/>
              <a:buFont typeface="Marcellus"/>
              <a:buNone/>
            </a:pPr>
            <a:r>
              <a:rPr b="0" i="0" lang="en-US" sz="2400" u="none" cap="none" strike="noStrike">
                <a:solidFill>
                  <a:srgbClr val="67534F"/>
                </a:solidFill>
                <a:latin typeface="Marcellus"/>
                <a:ea typeface="Marcellus"/>
                <a:cs typeface="Marcellus"/>
                <a:sym typeface="Marcellus"/>
              </a:rPr>
              <a:t>Evaluate All Features</a:t>
            </a:r>
            <a:endParaRPr b="0" i="0" sz="2400" u="none" cap="none" strike="noStrike"/>
          </a:p>
        </p:txBody>
      </p:sp>
      <p:sp>
        <p:nvSpPr>
          <p:cNvPr id="86" name="Google Shape;86;p13"/>
          <p:cNvSpPr/>
          <p:nvPr/>
        </p:nvSpPr>
        <p:spPr>
          <a:xfrm>
            <a:off x="753427" y="4937641"/>
            <a:ext cx="6454140" cy="559594"/>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67534F"/>
              </a:buClr>
              <a:buSzPts val="1650"/>
              <a:buFont typeface="Montserrat"/>
              <a:buNone/>
            </a:pPr>
            <a:r>
              <a:rPr b="0" i="0" lang="en-US" sz="1650" u="none" cap="none" strike="noStrike">
                <a:solidFill>
                  <a:srgbClr val="67534F"/>
                </a:solidFill>
                <a:latin typeface="Montserrat"/>
                <a:ea typeface="Montserrat"/>
                <a:cs typeface="Montserrat"/>
                <a:sym typeface="Montserrat"/>
              </a:rPr>
              <a:t>Consider every possible split point for each feature in the dataset</a:t>
            </a:r>
            <a:endParaRPr b="0" i="0" sz="1650" u="none" cap="none" strike="noStrike"/>
          </a:p>
        </p:txBody>
      </p:sp>
      <p:sp>
        <p:nvSpPr>
          <p:cNvPr id="87" name="Google Shape;87;p13"/>
          <p:cNvSpPr/>
          <p:nvPr/>
        </p:nvSpPr>
        <p:spPr>
          <a:xfrm>
            <a:off x="7422821" y="3891675"/>
            <a:ext cx="326400" cy="279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67534F"/>
              </a:buClr>
              <a:buSzPts val="1650"/>
              <a:buFont typeface="Marcellus"/>
              <a:buNone/>
            </a:pPr>
            <a:r>
              <a:rPr b="0" i="0" lang="en-US" sz="1650" u="none" cap="none" strike="noStrike">
                <a:solidFill>
                  <a:srgbClr val="67534F"/>
                </a:solidFill>
                <a:latin typeface="Marcellus"/>
                <a:ea typeface="Marcellus"/>
                <a:cs typeface="Marcellus"/>
                <a:sym typeface="Marcellus"/>
              </a:rPr>
              <a:t>02</a:t>
            </a:r>
            <a:endParaRPr b="0" i="0" sz="1650" u="none" cap="none" strike="noStrike"/>
          </a:p>
        </p:txBody>
      </p:sp>
      <p:sp>
        <p:nvSpPr>
          <p:cNvPr id="88" name="Google Shape;88;p13"/>
          <p:cNvSpPr/>
          <p:nvPr/>
        </p:nvSpPr>
        <p:spPr>
          <a:xfrm>
            <a:off x="7422833" y="4237792"/>
            <a:ext cx="6454140" cy="30480"/>
          </a:xfrm>
          <a:prstGeom prst="rect">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3"/>
          <p:cNvSpPr/>
          <p:nvPr/>
        </p:nvSpPr>
        <p:spPr>
          <a:xfrm>
            <a:off x="7422833" y="4406384"/>
            <a:ext cx="3094434" cy="402193"/>
          </a:xfrm>
          <a:prstGeom prst="rect">
            <a:avLst/>
          </a:prstGeom>
          <a:noFill/>
          <a:ln>
            <a:noFill/>
          </a:ln>
        </p:spPr>
        <p:txBody>
          <a:bodyPr anchorCtr="0" anchor="t" bIns="0" lIns="0" spcFirstLastPara="1" rIns="0" wrap="square" tIns="0">
            <a:noAutofit/>
          </a:bodyPr>
          <a:lstStyle/>
          <a:p>
            <a:pPr indent="0" lvl="0" marL="0" marR="0" rtl="0" algn="l">
              <a:lnSpc>
                <a:spcPct val="131250"/>
              </a:lnSpc>
              <a:spcBef>
                <a:spcPts val="0"/>
              </a:spcBef>
              <a:spcAft>
                <a:spcPts val="0"/>
              </a:spcAft>
              <a:buClr>
                <a:srgbClr val="67534F"/>
              </a:buClr>
              <a:buSzPts val="2400"/>
              <a:buFont typeface="Marcellus"/>
              <a:buNone/>
            </a:pPr>
            <a:r>
              <a:rPr b="0" i="0" lang="en-US" sz="2400" u="none" cap="none" strike="noStrike">
                <a:solidFill>
                  <a:srgbClr val="67534F"/>
                </a:solidFill>
                <a:latin typeface="Marcellus"/>
                <a:ea typeface="Marcellus"/>
                <a:cs typeface="Marcellus"/>
                <a:sym typeface="Marcellus"/>
              </a:rPr>
              <a:t>Measure Purity Gain</a:t>
            </a:r>
            <a:endParaRPr b="0" i="0" sz="2400" u="none" cap="none" strike="noStrike"/>
          </a:p>
        </p:txBody>
      </p:sp>
      <p:sp>
        <p:nvSpPr>
          <p:cNvPr id="90" name="Google Shape;90;p13"/>
          <p:cNvSpPr/>
          <p:nvPr/>
        </p:nvSpPr>
        <p:spPr>
          <a:xfrm>
            <a:off x="7422833" y="4937641"/>
            <a:ext cx="6454140" cy="559594"/>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67534F"/>
              </a:buClr>
              <a:buSzPts val="1650"/>
              <a:buFont typeface="Montserrat"/>
              <a:buNone/>
            </a:pPr>
            <a:r>
              <a:rPr b="0" i="0" lang="en-US" sz="1650" u="none" cap="none" strike="noStrike">
                <a:solidFill>
                  <a:srgbClr val="67534F"/>
                </a:solidFill>
                <a:latin typeface="Montserrat"/>
                <a:ea typeface="Montserrat"/>
                <a:cs typeface="Montserrat"/>
                <a:sym typeface="Montserrat"/>
              </a:rPr>
              <a:t>Calculate how much each split improves class separation or reduces variance</a:t>
            </a:r>
            <a:endParaRPr b="0" i="0" sz="1650" u="none" cap="none" strike="noStrike"/>
          </a:p>
        </p:txBody>
      </p:sp>
      <p:sp>
        <p:nvSpPr>
          <p:cNvPr id="91" name="Google Shape;91;p13"/>
          <p:cNvSpPr/>
          <p:nvPr/>
        </p:nvSpPr>
        <p:spPr>
          <a:xfrm>
            <a:off x="753423" y="5873950"/>
            <a:ext cx="412200" cy="279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67534F"/>
              </a:buClr>
              <a:buSzPts val="1650"/>
              <a:buFont typeface="Marcellus"/>
              <a:buNone/>
            </a:pPr>
            <a:r>
              <a:rPr b="0" i="0" lang="en-US" sz="1650" u="none" cap="none" strike="noStrike">
                <a:solidFill>
                  <a:srgbClr val="67534F"/>
                </a:solidFill>
                <a:latin typeface="Marcellus"/>
                <a:ea typeface="Marcellus"/>
                <a:cs typeface="Marcellus"/>
                <a:sym typeface="Marcellus"/>
              </a:rPr>
              <a:t>03</a:t>
            </a:r>
            <a:endParaRPr b="0" i="0" sz="1650" u="none" cap="none" strike="noStrike"/>
          </a:p>
        </p:txBody>
      </p:sp>
      <p:sp>
        <p:nvSpPr>
          <p:cNvPr id="92" name="Google Shape;92;p13"/>
          <p:cNvSpPr/>
          <p:nvPr/>
        </p:nvSpPr>
        <p:spPr>
          <a:xfrm>
            <a:off x="753427" y="6220063"/>
            <a:ext cx="6454140" cy="30480"/>
          </a:xfrm>
          <a:prstGeom prst="rect">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3"/>
          <p:cNvSpPr/>
          <p:nvPr/>
        </p:nvSpPr>
        <p:spPr>
          <a:xfrm>
            <a:off x="753427" y="6388656"/>
            <a:ext cx="3094434" cy="402193"/>
          </a:xfrm>
          <a:prstGeom prst="rect">
            <a:avLst/>
          </a:prstGeom>
          <a:noFill/>
          <a:ln>
            <a:noFill/>
          </a:ln>
        </p:spPr>
        <p:txBody>
          <a:bodyPr anchorCtr="0" anchor="t" bIns="0" lIns="0" spcFirstLastPara="1" rIns="0" wrap="square" tIns="0">
            <a:noAutofit/>
          </a:bodyPr>
          <a:lstStyle/>
          <a:p>
            <a:pPr indent="0" lvl="0" marL="0" marR="0" rtl="0" algn="l">
              <a:lnSpc>
                <a:spcPct val="131250"/>
              </a:lnSpc>
              <a:spcBef>
                <a:spcPts val="0"/>
              </a:spcBef>
              <a:spcAft>
                <a:spcPts val="0"/>
              </a:spcAft>
              <a:buClr>
                <a:srgbClr val="67534F"/>
              </a:buClr>
              <a:buSzPts val="2400"/>
              <a:buFont typeface="Marcellus"/>
              <a:buNone/>
            </a:pPr>
            <a:r>
              <a:rPr b="0" i="0" lang="en-US" sz="2400" u="none" cap="none" strike="noStrike">
                <a:solidFill>
                  <a:srgbClr val="67534F"/>
                </a:solidFill>
                <a:latin typeface="Marcellus"/>
                <a:ea typeface="Marcellus"/>
                <a:cs typeface="Marcellus"/>
                <a:sym typeface="Marcellus"/>
              </a:rPr>
              <a:t>Choose Best Split</a:t>
            </a:r>
            <a:endParaRPr b="0" i="0" sz="2400" u="none" cap="none" strike="noStrike"/>
          </a:p>
        </p:txBody>
      </p:sp>
      <p:sp>
        <p:nvSpPr>
          <p:cNvPr id="94" name="Google Shape;94;p13"/>
          <p:cNvSpPr/>
          <p:nvPr/>
        </p:nvSpPr>
        <p:spPr>
          <a:xfrm>
            <a:off x="753427" y="6919913"/>
            <a:ext cx="6454140" cy="559594"/>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67534F"/>
              </a:buClr>
              <a:buSzPts val="1650"/>
              <a:buFont typeface="Montserrat"/>
              <a:buNone/>
            </a:pPr>
            <a:r>
              <a:rPr b="0" i="0" lang="en-US" sz="1650" u="none" cap="none" strike="noStrike">
                <a:solidFill>
                  <a:srgbClr val="67534F"/>
                </a:solidFill>
                <a:latin typeface="Montserrat"/>
                <a:ea typeface="Montserrat"/>
                <a:cs typeface="Montserrat"/>
                <a:sym typeface="Montserrat"/>
              </a:rPr>
              <a:t>Select the feature and threshold that maximizes purity increase</a:t>
            </a:r>
            <a:endParaRPr b="0" i="0" sz="1650" u="none" cap="none" strike="noStrike"/>
          </a:p>
        </p:txBody>
      </p:sp>
      <p:sp>
        <p:nvSpPr>
          <p:cNvPr id="95" name="Google Shape;95;p13"/>
          <p:cNvSpPr/>
          <p:nvPr/>
        </p:nvSpPr>
        <p:spPr>
          <a:xfrm>
            <a:off x="7422817" y="5873950"/>
            <a:ext cx="412200" cy="2799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67534F"/>
              </a:buClr>
              <a:buSzPts val="1650"/>
              <a:buFont typeface="Marcellus"/>
              <a:buNone/>
            </a:pPr>
            <a:r>
              <a:rPr b="0" i="0" lang="en-US" sz="1650" u="none" cap="none" strike="noStrike">
                <a:solidFill>
                  <a:srgbClr val="67534F"/>
                </a:solidFill>
                <a:latin typeface="Marcellus"/>
                <a:ea typeface="Marcellus"/>
                <a:cs typeface="Marcellus"/>
                <a:sym typeface="Marcellus"/>
              </a:rPr>
              <a:t>04</a:t>
            </a:r>
            <a:endParaRPr b="0" i="0" sz="1650" u="none" cap="none" strike="noStrike"/>
          </a:p>
        </p:txBody>
      </p:sp>
      <p:sp>
        <p:nvSpPr>
          <p:cNvPr id="96" name="Google Shape;96;p13"/>
          <p:cNvSpPr/>
          <p:nvPr/>
        </p:nvSpPr>
        <p:spPr>
          <a:xfrm>
            <a:off x="7422833" y="6220063"/>
            <a:ext cx="6454140" cy="30480"/>
          </a:xfrm>
          <a:prstGeom prst="rect">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3"/>
          <p:cNvSpPr/>
          <p:nvPr/>
        </p:nvSpPr>
        <p:spPr>
          <a:xfrm>
            <a:off x="7422833" y="6388656"/>
            <a:ext cx="3094434" cy="402193"/>
          </a:xfrm>
          <a:prstGeom prst="rect">
            <a:avLst/>
          </a:prstGeom>
          <a:noFill/>
          <a:ln>
            <a:noFill/>
          </a:ln>
        </p:spPr>
        <p:txBody>
          <a:bodyPr anchorCtr="0" anchor="t" bIns="0" lIns="0" spcFirstLastPara="1" rIns="0" wrap="square" tIns="0">
            <a:noAutofit/>
          </a:bodyPr>
          <a:lstStyle/>
          <a:p>
            <a:pPr indent="0" lvl="0" marL="0" marR="0" rtl="0" algn="l">
              <a:lnSpc>
                <a:spcPct val="131250"/>
              </a:lnSpc>
              <a:spcBef>
                <a:spcPts val="0"/>
              </a:spcBef>
              <a:spcAft>
                <a:spcPts val="0"/>
              </a:spcAft>
              <a:buClr>
                <a:srgbClr val="67534F"/>
              </a:buClr>
              <a:buSzPts val="2400"/>
              <a:buFont typeface="Marcellus"/>
              <a:buNone/>
            </a:pPr>
            <a:r>
              <a:rPr b="0" i="0" lang="en-US" sz="2400" u="none" cap="none" strike="noStrike">
                <a:solidFill>
                  <a:srgbClr val="67534F"/>
                </a:solidFill>
                <a:latin typeface="Marcellus"/>
                <a:ea typeface="Marcellus"/>
                <a:cs typeface="Marcellus"/>
                <a:sym typeface="Marcellus"/>
              </a:rPr>
              <a:t>Repeat Recursively</a:t>
            </a:r>
            <a:endParaRPr b="0" i="0" sz="2400" u="none" cap="none" strike="noStrike"/>
          </a:p>
        </p:txBody>
      </p:sp>
      <p:sp>
        <p:nvSpPr>
          <p:cNvPr id="98" name="Google Shape;98;p13"/>
          <p:cNvSpPr/>
          <p:nvPr/>
        </p:nvSpPr>
        <p:spPr>
          <a:xfrm>
            <a:off x="7422833" y="6919913"/>
            <a:ext cx="6454140" cy="559594"/>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67534F"/>
              </a:buClr>
              <a:buSzPts val="1650"/>
              <a:buFont typeface="Montserrat"/>
              <a:buNone/>
            </a:pPr>
            <a:r>
              <a:rPr b="0" i="0" lang="en-US" sz="1650" u="none" cap="none" strike="noStrike">
                <a:solidFill>
                  <a:srgbClr val="67534F"/>
                </a:solidFill>
                <a:latin typeface="Montserrat"/>
                <a:ea typeface="Montserrat"/>
                <a:cs typeface="Montserrat"/>
                <a:sym typeface="Montserrat"/>
              </a:rPr>
              <a:t>Apply the same process to each resulting branch until stopping criteria are met</a:t>
            </a:r>
            <a:endParaRPr b="0" i="0" sz="16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4"/>
          <p:cNvSpPr/>
          <p:nvPr/>
        </p:nvSpPr>
        <p:spPr>
          <a:xfrm>
            <a:off x="793790" y="1959412"/>
            <a:ext cx="8359259" cy="847725"/>
          </a:xfrm>
          <a:prstGeom prst="rect">
            <a:avLst/>
          </a:prstGeom>
          <a:noFill/>
          <a:ln>
            <a:noFill/>
          </a:ln>
        </p:spPr>
        <p:txBody>
          <a:bodyPr anchorCtr="0" anchor="t" bIns="0" lIns="0" spcFirstLastPara="1" rIns="0" wrap="square" tIns="0">
            <a:noAutofit/>
          </a:bodyPr>
          <a:lstStyle/>
          <a:p>
            <a:pPr indent="0" lvl="0" marL="0" marR="0" rtl="0" algn="l">
              <a:lnSpc>
                <a:spcPct val="130392"/>
              </a:lnSpc>
              <a:spcBef>
                <a:spcPts val="0"/>
              </a:spcBef>
              <a:spcAft>
                <a:spcPts val="0"/>
              </a:spcAft>
              <a:buClr>
                <a:srgbClr val="532418"/>
              </a:buClr>
              <a:buSzPts val="5100"/>
              <a:buFont typeface="Marcellus"/>
              <a:buNone/>
            </a:pPr>
            <a:r>
              <a:rPr b="0" i="0" lang="en-US" sz="5100" u="none" cap="none" strike="noStrike">
                <a:solidFill>
                  <a:srgbClr val="532418"/>
                </a:solidFill>
                <a:latin typeface="Marcellus"/>
                <a:ea typeface="Marcellus"/>
                <a:cs typeface="Marcellus"/>
                <a:sym typeface="Marcellus"/>
              </a:rPr>
              <a:t>Limitations of Decision Trees</a:t>
            </a:r>
            <a:endParaRPr b="0" i="0" sz="5100" u="none" cap="none" strike="noStrike"/>
          </a:p>
        </p:txBody>
      </p:sp>
      <p:sp>
        <p:nvSpPr>
          <p:cNvPr id="105" name="Google Shape;105;p14"/>
          <p:cNvSpPr/>
          <p:nvPr/>
        </p:nvSpPr>
        <p:spPr>
          <a:xfrm>
            <a:off x="793790" y="3147298"/>
            <a:ext cx="4196358" cy="3122890"/>
          </a:xfrm>
          <a:prstGeom prst="roundRect">
            <a:avLst>
              <a:gd fmla="val 3051" name="adj"/>
            </a:avLst>
          </a:prstGeom>
          <a:solidFill>
            <a:srgbClr val="FFFFF4"/>
          </a:solidFill>
          <a:ln cap="flat" cmpd="sng" w="22850">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4"/>
          <p:cNvSpPr/>
          <p:nvPr/>
        </p:nvSpPr>
        <p:spPr>
          <a:xfrm>
            <a:off x="1043464" y="3396972"/>
            <a:ext cx="3260646" cy="4238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Overfitting Risk</a:t>
            </a:r>
            <a:endParaRPr b="0" i="0" sz="2550" u="none" cap="none" strike="noStrike"/>
          </a:p>
        </p:txBody>
      </p:sp>
      <p:sp>
        <p:nvSpPr>
          <p:cNvPr id="107" name="Google Shape;107;p14"/>
          <p:cNvSpPr/>
          <p:nvPr/>
        </p:nvSpPr>
        <p:spPr>
          <a:xfrm>
            <a:off x="1043464" y="3956923"/>
            <a:ext cx="3697010" cy="2063591"/>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When trees grow too deep, they memorize training data rather than learning general patterns. Each additional split captures more specific details, including random noise that won't help with new data.</a:t>
            </a:r>
            <a:endParaRPr b="0" i="0" sz="1750" u="none" cap="none" strike="noStrike"/>
          </a:p>
        </p:txBody>
      </p:sp>
      <p:sp>
        <p:nvSpPr>
          <p:cNvPr id="108" name="Google Shape;108;p14"/>
          <p:cNvSpPr/>
          <p:nvPr/>
        </p:nvSpPr>
        <p:spPr>
          <a:xfrm>
            <a:off x="5216962" y="3147298"/>
            <a:ext cx="4196358" cy="3122890"/>
          </a:xfrm>
          <a:prstGeom prst="roundRect">
            <a:avLst>
              <a:gd fmla="val 3051" name="adj"/>
            </a:avLst>
          </a:prstGeom>
          <a:solidFill>
            <a:srgbClr val="FFFFF4"/>
          </a:solidFill>
          <a:ln cap="flat" cmpd="sng" w="22850">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4"/>
          <p:cNvSpPr/>
          <p:nvPr/>
        </p:nvSpPr>
        <p:spPr>
          <a:xfrm>
            <a:off x="5466636" y="3396972"/>
            <a:ext cx="3260646" cy="4238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Learning Noise</a:t>
            </a:r>
            <a:endParaRPr b="0" i="0" sz="2550" u="none" cap="none" strike="noStrike"/>
          </a:p>
        </p:txBody>
      </p:sp>
      <p:sp>
        <p:nvSpPr>
          <p:cNvPr id="110" name="Google Shape;110;p14"/>
          <p:cNvSpPr/>
          <p:nvPr/>
        </p:nvSpPr>
        <p:spPr>
          <a:xfrm>
            <a:off x="5466636" y="3956923"/>
            <a:ext cx="3697010" cy="2063591"/>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Deep trees create overly complex decision boundaries that fit every quirk in the training set. This means the model performs brilliantly on training data but fails to generalize to unseen examples.</a:t>
            </a:r>
            <a:endParaRPr b="0" i="0" sz="1750" u="none" cap="none" strike="noStrike"/>
          </a:p>
        </p:txBody>
      </p:sp>
      <p:sp>
        <p:nvSpPr>
          <p:cNvPr id="111" name="Google Shape;111;p14"/>
          <p:cNvSpPr/>
          <p:nvPr/>
        </p:nvSpPr>
        <p:spPr>
          <a:xfrm>
            <a:off x="9640133" y="3147298"/>
            <a:ext cx="4196358" cy="3122890"/>
          </a:xfrm>
          <a:prstGeom prst="roundRect">
            <a:avLst>
              <a:gd fmla="val 3051" name="adj"/>
            </a:avLst>
          </a:prstGeom>
          <a:solidFill>
            <a:srgbClr val="FFFFF4"/>
          </a:solidFill>
          <a:ln cap="flat" cmpd="sng" w="22850">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4"/>
          <p:cNvSpPr/>
          <p:nvPr/>
        </p:nvSpPr>
        <p:spPr>
          <a:xfrm>
            <a:off x="9889808" y="3396972"/>
            <a:ext cx="3260646" cy="4238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High Variance</a:t>
            </a:r>
            <a:endParaRPr b="0" i="0" sz="2550" u="none" cap="none" strike="noStrike"/>
          </a:p>
        </p:txBody>
      </p:sp>
      <p:sp>
        <p:nvSpPr>
          <p:cNvPr id="113" name="Google Shape;113;p14"/>
          <p:cNvSpPr/>
          <p:nvPr/>
        </p:nvSpPr>
        <p:spPr>
          <a:xfrm>
            <a:off x="9889808" y="3956923"/>
            <a:ext cx="3697010" cy="2063591"/>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Small changes in training data can produce dramatically different trees. This instability makes single decision trees unreliable—what works for one sample might fail on another similar dataset.</a:t>
            </a:r>
            <a:endParaRPr b="0" i="0" sz="175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5"/>
          <p:cNvSpPr/>
          <p:nvPr/>
        </p:nvSpPr>
        <p:spPr>
          <a:xfrm>
            <a:off x="696039" y="546973"/>
            <a:ext cx="7550706" cy="743307"/>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532418"/>
              </a:buClr>
              <a:buSzPts val="4500"/>
              <a:buFont typeface="Marcellus"/>
              <a:buNone/>
            </a:pPr>
            <a:r>
              <a:rPr b="0" i="0" lang="en-US" sz="4500" u="none" cap="none" strike="noStrike">
                <a:solidFill>
                  <a:srgbClr val="532418"/>
                </a:solidFill>
                <a:latin typeface="Marcellus"/>
                <a:ea typeface="Marcellus"/>
                <a:cs typeface="Marcellus"/>
                <a:sym typeface="Marcellus"/>
              </a:rPr>
              <a:t>Bias and Variance Perspective</a:t>
            </a:r>
            <a:endParaRPr b="0" i="0" sz="4500" u="none" cap="none" strike="noStrike"/>
          </a:p>
        </p:txBody>
      </p:sp>
      <p:sp>
        <p:nvSpPr>
          <p:cNvPr id="120" name="Google Shape;120;p15"/>
          <p:cNvSpPr/>
          <p:nvPr/>
        </p:nvSpPr>
        <p:spPr>
          <a:xfrm>
            <a:off x="696039" y="1688068"/>
            <a:ext cx="13238321" cy="258604"/>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Decision trees exhibit an important characteristic in the bias-variance tradeoff: they typically have </a:t>
            </a:r>
            <a:r>
              <a:rPr b="1" i="0" lang="en-US" sz="1550" u="none" cap="none" strike="noStrike">
                <a:solidFill>
                  <a:srgbClr val="FF954F"/>
                </a:solidFill>
                <a:latin typeface="Montserrat"/>
                <a:ea typeface="Montserrat"/>
                <a:cs typeface="Montserrat"/>
                <a:sym typeface="Montserrat"/>
              </a:rPr>
              <a:t>low bias</a:t>
            </a:r>
            <a:r>
              <a:rPr b="0" i="0" lang="en-US" sz="1550" u="none" cap="none" strike="noStrike">
                <a:solidFill>
                  <a:srgbClr val="67534F"/>
                </a:solidFill>
                <a:latin typeface="Montserrat"/>
                <a:ea typeface="Montserrat"/>
                <a:cs typeface="Montserrat"/>
                <a:sym typeface="Montserrat"/>
              </a:rPr>
              <a:t> but </a:t>
            </a:r>
            <a:r>
              <a:rPr b="1" i="0" lang="en-US" sz="1550" u="none" cap="none" strike="noStrike">
                <a:solidFill>
                  <a:srgbClr val="FF954F"/>
                </a:solidFill>
                <a:latin typeface="Montserrat"/>
                <a:ea typeface="Montserrat"/>
                <a:cs typeface="Montserrat"/>
                <a:sym typeface="Montserrat"/>
              </a:rPr>
              <a:t>high variance</a:t>
            </a:r>
            <a:r>
              <a:rPr b="0" i="0" lang="en-US" sz="1550" u="none" cap="none" strike="noStrike">
                <a:solidFill>
                  <a:srgbClr val="67534F"/>
                </a:solidFill>
                <a:latin typeface="Montserrat"/>
                <a:ea typeface="Montserrat"/>
                <a:cs typeface="Montserrat"/>
                <a:sym typeface="Montserrat"/>
              </a:rPr>
              <a:t>.</a:t>
            </a:r>
            <a:endParaRPr b="0" i="0" sz="1550" u="none" cap="none" strike="noStrike"/>
          </a:p>
        </p:txBody>
      </p:sp>
      <p:sp>
        <p:nvSpPr>
          <p:cNvPr id="121" name="Google Shape;121;p15"/>
          <p:cNvSpPr/>
          <p:nvPr/>
        </p:nvSpPr>
        <p:spPr>
          <a:xfrm>
            <a:off x="696039" y="2170390"/>
            <a:ext cx="13238321" cy="5172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Low bias means they can model complex, non-linear patterns effectively. However, high variance means they're sensitive to the specific training data—a slight change in the dataset can produce a completely different tree structure.</a:t>
            </a:r>
            <a:endParaRPr b="0" i="0" sz="1550" u="none" cap="none" strike="noStrike"/>
          </a:p>
        </p:txBody>
      </p:sp>
      <p:sp>
        <p:nvSpPr>
          <p:cNvPr id="122" name="Google Shape;122;p15"/>
          <p:cNvSpPr/>
          <p:nvPr/>
        </p:nvSpPr>
        <p:spPr>
          <a:xfrm>
            <a:off x="696039" y="2911316"/>
            <a:ext cx="13238321" cy="517208"/>
          </a:xfrm>
          <a:prstGeom prst="rect">
            <a:avLst/>
          </a:prstGeom>
          <a:noFill/>
          <a:ln>
            <a:noFill/>
          </a:ln>
        </p:spPr>
        <p:txBody>
          <a:bodyPr anchorCtr="0" anchor="t" bIns="0" lIns="0" spcFirstLastPara="1" rIns="0" wrap="square" tIns="0">
            <a:noAutofit/>
          </a:bodyPr>
          <a:lstStyle/>
          <a:p>
            <a:pPr indent="0" lvl="0" marL="0" marR="0" rtl="0" algn="l">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This variance causes instability and makes individual trees prone to overfitting. The model might perform excellently on training data but struggle with real-world predictions.</a:t>
            </a:r>
            <a:endParaRPr b="0" i="0" sz="1550" u="none" cap="none" strike="noStrike"/>
          </a:p>
        </p:txBody>
      </p:sp>
      <p:sp>
        <p:nvSpPr>
          <p:cNvPr id="123" name="Google Shape;123;p15"/>
          <p:cNvSpPr/>
          <p:nvPr/>
        </p:nvSpPr>
        <p:spPr>
          <a:xfrm>
            <a:off x="2720221" y="4945023"/>
            <a:ext cx="2446377" cy="49720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7534F"/>
              </a:buClr>
              <a:buSzPts val="3900"/>
              <a:buFont typeface="Marcellus"/>
              <a:buNone/>
            </a:pPr>
            <a:r>
              <a:rPr b="0" i="0" lang="en-US" sz="3900" u="none" cap="none" strike="noStrike">
                <a:solidFill>
                  <a:srgbClr val="67534F"/>
                </a:solidFill>
                <a:latin typeface="Marcellus"/>
                <a:ea typeface="Marcellus"/>
                <a:cs typeface="Marcellus"/>
                <a:sym typeface="Marcellus"/>
              </a:rPr>
              <a:t>15%</a:t>
            </a:r>
            <a:endParaRPr b="0" i="0" sz="3900" u="none" cap="none" strike="noStrike"/>
          </a:p>
        </p:txBody>
      </p:sp>
      <p:pic>
        <p:nvPicPr>
          <p:cNvPr descr="preencoded.png" id="124" name="Google Shape;124;p15"/>
          <p:cNvPicPr preferRelativeResize="0"/>
          <p:nvPr/>
        </p:nvPicPr>
        <p:blipFill rotWithShape="1">
          <a:blip r:embed="rId3">
            <a:alphaModFix/>
          </a:blip>
          <a:srcRect b="0" l="0" r="0" t="0"/>
          <a:stretch/>
        </p:blipFill>
        <p:spPr>
          <a:xfrm>
            <a:off x="2451735" y="3701891"/>
            <a:ext cx="2983468" cy="2983468"/>
          </a:xfrm>
          <a:prstGeom prst="rect">
            <a:avLst/>
          </a:prstGeom>
          <a:noFill/>
          <a:ln>
            <a:noFill/>
          </a:ln>
        </p:spPr>
      </p:pic>
      <p:sp>
        <p:nvSpPr>
          <p:cNvPr id="125" name="Google Shape;125;p15"/>
          <p:cNvSpPr/>
          <p:nvPr/>
        </p:nvSpPr>
        <p:spPr>
          <a:xfrm>
            <a:off x="2513886" y="6933843"/>
            <a:ext cx="2859167" cy="371594"/>
          </a:xfrm>
          <a:prstGeom prst="rect">
            <a:avLst/>
          </a:prstGeom>
          <a:noFill/>
          <a:ln>
            <a:noFill/>
          </a:ln>
        </p:spPr>
        <p:txBody>
          <a:bodyPr anchorCtr="0" anchor="t" bIns="0" lIns="0" spcFirstLastPara="1" rIns="0" wrap="square" tIns="0">
            <a:noAutofit/>
          </a:bodyPr>
          <a:lstStyle/>
          <a:p>
            <a:pPr indent="0" lvl="0" marL="0" marR="0" rtl="0" algn="ctr">
              <a:lnSpc>
                <a:spcPct val="128888"/>
              </a:lnSpc>
              <a:spcBef>
                <a:spcPts val="0"/>
              </a:spcBef>
              <a:spcAft>
                <a:spcPts val="0"/>
              </a:spcAft>
              <a:buClr>
                <a:srgbClr val="67534F"/>
              </a:buClr>
              <a:buSzPts val="2250"/>
              <a:buFont typeface="Marcellus"/>
              <a:buNone/>
            </a:pPr>
            <a:r>
              <a:rPr b="0" i="0" lang="en-US" sz="2250" u="none" cap="none" strike="noStrike">
                <a:solidFill>
                  <a:srgbClr val="67534F"/>
                </a:solidFill>
                <a:latin typeface="Marcellus"/>
                <a:ea typeface="Marcellus"/>
                <a:cs typeface="Marcellus"/>
                <a:sym typeface="Marcellus"/>
              </a:rPr>
              <a:t>Low Bias</a:t>
            </a:r>
            <a:endParaRPr b="0" i="0" sz="2250" u="none" cap="none" strike="noStrike"/>
          </a:p>
        </p:txBody>
      </p:sp>
      <p:sp>
        <p:nvSpPr>
          <p:cNvPr id="126" name="Google Shape;126;p15"/>
          <p:cNvSpPr/>
          <p:nvPr/>
        </p:nvSpPr>
        <p:spPr>
          <a:xfrm>
            <a:off x="696039" y="7424738"/>
            <a:ext cx="6494859" cy="258604"/>
          </a:xfrm>
          <a:prstGeom prst="rect">
            <a:avLst/>
          </a:prstGeom>
          <a:noFill/>
          <a:ln>
            <a:noFill/>
          </a:ln>
        </p:spPr>
        <p:txBody>
          <a:bodyPr anchorCtr="0" anchor="t" bIns="0" lIns="0" spcFirstLastPara="1" rIns="0" wrap="square" tIns="0">
            <a:noAutofit/>
          </a:bodyPr>
          <a:lstStyle/>
          <a:p>
            <a:pPr indent="0" lvl="0" marL="0" marR="0" rtl="0" algn="ctr">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Trees can capture complex patterns in data</a:t>
            </a:r>
            <a:endParaRPr b="0" i="0" sz="1550" u="none" cap="none" strike="noStrike"/>
          </a:p>
        </p:txBody>
      </p:sp>
      <p:sp>
        <p:nvSpPr>
          <p:cNvPr id="127" name="Google Shape;127;p15"/>
          <p:cNvSpPr/>
          <p:nvPr/>
        </p:nvSpPr>
        <p:spPr>
          <a:xfrm>
            <a:off x="9463683" y="4945023"/>
            <a:ext cx="2446377" cy="49720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7534F"/>
              </a:buClr>
              <a:buSzPts val="3900"/>
              <a:buFont typeface="Marcellus"/>
              <a:buNone/>
            </a:pPr>
            <a:r>
              <a:rPr b="0" i="0" lang="en-US" sz="3900" u="none" cap="none" strike="noStrike">
                <a:solidFill>
                  <a:srgbClr val="67534F"/>
                </a:solidFill>
                <a:latin typeface="Marcellus"/>
                <a:ea typeface="Marcellus"/>
                <a:cs typeface="Marcellus"/>
                <a:sym typeface="Marcellus"/>
              </a:rPr>
              <a:t>85%</a:t>
            </a:r>
            <a:endParaRPr b="0" i="0" sz="3900" u="none" cap="none" strike="noStrike"/>
          </a:p>
        </p:txBody>
      </p:sp>
      <p:pic>
        <p:nvPicPr>
          <p:cNvPr descr="preencoded.png" id="128" name="Google Shape;128;p15"/>
          <p:cNvPicPr preferRelativeResize="0"/>
          <p:nvPr/>
        </p:nvPicPr>
        <p:blipFill rotWithShape="1">
          <a:blip r:embed="rId4">
            <a:alphaModFix/>
          </a:blip>
          <a:srcRect b="0" l="0" r="0" t="0"/>
          <a:stretch/>
        </p:blipFill>
        <p:spPr>
          <a:xfrm>
            <a:off x="9195197" y="3701891"/>
            <a:ext cx="2983468" cy="2983468"/>
          </a:xfrm>
          <a:prstGeom prst="rect">
            <a:avLst/>
          </a:prstGeom>
          <a:noFill/>
          <a:ln>
            <a:noFill/>
          </a:ln>
        </p:spPr>
      </p:pic>
      <p:sp>
        <p:nvSpPr>
          <p:cNvPr id="129" name="Google Shape;129;p15"/>
          <p:cNvSpPr/>
          <p:nvPr/>
        </p:nvSpPr>
        <p:spPr>
          <a:xfrm>
            <a:off x="9257348" y="6933843"/>
            <a:ext cx="2859167" cy="371594"/>
          </a:xfrm>
          <a:prstGeom prst="rect">
            <a:avLst/>
          </a:prstGeom>
          <a:noFill/>
          <a:ln>
            <a:noFill/>
          </a:ln>
        </p:spPr>
        <p:txBody>
          <a:bodyPr anchorCtr="0" anchor="t" bIns="0" lIns="0" spcFirstLastPara="1" rIns="0" wrap="square" tIns="0">
            <a:noAutofit/>
          </a:bodyPr>
          <a:lstStyle/>
          <a:p>
            <a:pPr indent="0" lvl="0" marL="0" marR="0" rtl="0" algn="ctr">
              <a:lnSpc>
                <a:spcPct val="128888"/>
              </a:lnSpc>
              <a:spcBef>
                <a:spcPts val="0"/>
              </a:spcBef>
              <a:spcAft>
                <a:spcPts val="0"/>
              </a:spcAft>
              <a:buClr>
                <a:srgbClr val="67534F"/>
              </a:buClr>
              <a:buSzPts val="2250"/>
              <a:buFont typeface="Marcellus"/>
              <a:buNone/>
            </a:pPr>
            <a:r>
              <a:rPr b="0" i="0" lang="en-US" sz="2250" u="none" cap="none" strike="noStrike">
                <a:solidFill>
                  <a:srgbClr val="67534F"/>
                </a:solidFill>
                <a:latin typeface="Marcellus"/>
                <a:ea typeface="Marcellus"/>
                <a:cs typeface="Marcellus"/>
                <a:sym typeface="Marcellus"/>
              </a:rPr>
              <a:t>High Variance</a:t>
            </a:r>
            <a:endParaRPr b="0" i="0" sz="2250" u="none" cap="none" strike="noStrike"/>
          </a:p>
        </p:txBody>
      </p:sp>
      <p:sp>
        <p:nvSpPr>
          <p:cNvPr id="130" name="Google Shape;130;p15"/>
          <p:cNvSpPr/>
          <p:nvPr/>
        </p:nvSpPr>
        <p:spPr>
          <a:xfrm>
            <a:off x="7439501" y="7424738"/>
            <a:ext cx="6494859" cy="258604"/>
          </a:xfrm>
          <a:prstGeom prst="rect">
            <a:avLst/>
          </a:prstGeom>
          <a:noFill/>
          <a:ln>
            <a:noFill/>
          </a:ln>
        </p:spPr>
        <p:txBody>
          <a:bodyPr anchorCtr="0" anchor="t" bIns="0" lIns="0" spcFirstLastPara="1" rIns="0" wrap="square" tIns="0">
            <a:noAutofit/>
          </a:bodyPr>
          <a:lstStyle/>
          <a:p>
            <a:pPr indent="0" lvl="0" marL="0" marR="0" rtl="0" algn="ctr">
              <a:lnSpc>
                <a:spcPct val="129032"/>
              </a:lnSpc>
              <a:spcBef>
                <a:spcPts val="0"/>
              </a:spcBef>
              <a:spcAft>
                <a:spcPts val="0"/>
              </a:spcAft>
              <a:buClr>
                <a:srgbClr val="67534F"/>
              </a:buClr>
              <a:buSzPts val="1550"/>
              <a:buFont typeface="Montserrat"/>
              <a:buNone/>
            </a:pPr>
            <a:r>
              <a:rPr b="0" i="0" lang="en-US" sz="1550" u="none" cap="none" strike="noStrike">
                <a:solidFill>
                  <a:srgbClr val="67534F"/>
                </a:solidFill>
                <a:latin typeface="Montserrat"/>
                <a:ea typeface="Montserrat"/>
                <a:cs typeface="Montserrat"/>
                <a:sym typeface="Montserrat"/>
              </a:rPr>
              <a:t>Predictions vary significantly with data changes</a:t>
            </a:r>
            <a:endParaRPr b="0" i="0" sz="15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6"/>
          <p:cNvSpPr/>
          <p:nvPr/>
        </p:nvSpPr>
        <p:spPr>
          <a:xfrm>
            <a:off x="793790" y="1012388"/>
            <a:ext cx="8136731" cy="847725"/>
          </a:xfrm>
          <a:prstGeom prst="rect">
            <a:avLst/>
          </a:prstGeom>
          <a:noFill/>
          <a:ln>
            <a:noFill/>
          </a:ln>
        </p:spPr>
        <p:txBody>
          <a:bodyPr anchorCtr="0" anchor="t" bIns="0" lIns="0" spcFirstLastPara="1" rIns="0" wrap="square" tIns="0">
            <a:noAutofit/>
          </a:bodyPr>
          <a:lstStyle/>
          <a:p>
            <a:pPr indent="0" lvl="0" marL="0" marR="0" rtl="0" algn="l">
              <a:lnSpc>
                <a:spcPct val="130392"/>
              </a:lnSpc>
              <a:spcBef>
                <a:spcPts val="0"/>
              </a:spcBef>
              <a:spcAft>
                <a:spcPts val="0"/>
              </a:spcAft>
              <a:buClr>
                <a:srgbClr val="532418"/>
              </a:buClr>
              <a:buSzPts val="5100"/>
              <a:buFont typeface="Marcellus"/>
              <a:buNone/>
            </a:pPr>
            <a:r>
              <a:rPr b="0" i="0" lang="en-US" sz="5100" u="none" cap="none" strike="noStrike">
                <a:solidFill>
                  <a:srgbClr val="532418"/>
                </a:solidFill>
                <a:latin typeface="Marcellus"/>
                <a:ea typeface="Marcellus"/>
                <a:cs typeface="Marcellus"/>
                <a:sym typeface="Marcellus"/>
              </a:rPr>
              <a:t>What Is Ensemble Learning?</a:t>
            </a:r>
            <a:endParaRPr b="0" i="0" sz="5100" u="none" cap="none" strike="noStrike"/>
          </a:p>
        </p:txBody>
      </p:sp>
      <p:sp>
        <p:nvSpPr>
          <p:cNvPr id="137" name="Google Shape;137;p16"/>
          <p:cNvSpPr/>
          <p:nvPr/>
        </p:nvSpPr>
        <p:spPr>
          <a:xfrm>
            <a:off x="793790" y="2200275"/>
            <a:ext cx="13042821" cy="884396"/>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Ensemble learning is a powerful machine learning technique that combines multiple models to produce a single, more accurate prediction. Instead of relying on one model's judgment, ensembles leverage the collective wisdom of many models working together.</a:t>
            </a:r>
            <a:endParaRPr b="0" i="0" sz="1750" u="none" cap="none" strike="noStrike"/>
          </a:p>
        </p:txBody>
      </p:sp>
      <p:sp>
        <p:nvSpPr>
          <p:cNvPr id="138" name="Google Shape;138;p16"/>
          <p:cNvSpPr/>
          <p:nvPr/>
        </p:nvSpPr>
        <p:spPr>
          <a:xfrm>
            <a:off x="793790" y="3679984"/>
            <a:ext cx="4196358" cy="2692479"/>
          </a:xfrm>
          <a:prstGeom prst="roundRect">
            <a:avLst>
              <a:gd fmla="val 5434" name="adj"/>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6"/>
          <p:cNvSpPr/>
          <p:nvPr/>
        </p:nvSpPr>
        <p:spPr>
          <a:xfrm>
            <a:off x="793790" y="3649504"/>
            <a:ext cx="4196358" cy="121920"/>
          </a:xfrm>
          <a:prstGeom prst="roundRect">
            <a:avLst>
              <a:gd fmla="val 78139"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6"/>
          <p:cNvSpPr/>
          <p:nvPr/>
        </p:nvSpPr>
        <p:spPr>
          <a:xfrm>
            <a:off x="2551688" y="3339822"/>
            <a:ext cx="680442" cy="680442"/>
          </a:xfrm>
          <a:prstGeom prst="roundRect">
            <a:avLst>
              <a:gd fmla="val 134383"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6"/>
          <p:cNvSpPr/>
          <p:nvPr/>
        </p:nvSpPr>
        <p:spPr>
          <a:xfrm>
            <a:off x="2755761" y="3503176"/>
            <a:ext cx="272177" cy="353735"/>
          </a:xfrm>
          <a:prstGeom prst="rect">
            <a:avLst/>
          </a:prstGeom>
          <a:noFill/>
          <a:ln>
            <a:noFill/>
          </a:ln>
        </p:spPr>
        <p:txBody>
          <a:bodyPr anchorCtr="0" anchor="t" bIns="0" lIns="0" spcFirstLastPara="1" rIns="0" wrap="square" tIns="0">
            <a:noAutofit/>
          </a:bodyPr>
          <a:lstStyle/>
          <a:p>
            <a:pPr indent="0" lvl="0" marL="0" marR="0" rtl="0" algn="l">
              <a:lnSpc>
                <a:spcPct val="130952"/>
              </a:lnSpc>
              <a:spcBef>
                <a:spcPts val="0"/>
              </a:spcBef>
              <a:spcAft>
                <a:spcPts val="0"/>
              </a:spcAft>
              <a:buClr>
                <a:srgbClr val="000000"/>
              </a:buClr>
              <a:buSzPts val="2100"/>
              <a:buFont typeface="Marcellus"/>
              <a:buNone/>
            </a:pPr>
            <a:r>
              <a:rPr b="0" i="0" lang="en-US" sz="2100" u="none" cap="none" strike="noStrike">
                <a:solidFill>
                  <a:srgbClr val="000000"/>
                </a:solidFill>
                <a:latin typeface="Marcellus"/>
                <a:ea typeface="Marcellus"/>
                <a:cs typeface="Marcellus"/>
                <a:sym typeface="Marcellus"/>
              </a:rPr>
              <a:t>1</a:t>
            </a:r>
            <a:endParaRPr b="0" i="0" sz="2100" u="none" cap="none" strike="noStrike"/>
          </a:p>
        </p:txBody>
      </p:sp>
      <p:sp>
        <p:nvSpPr>
          <p:cNvPr id="142" name="Google Shape;142;p16"/>
          <p:cNvSpPr/>
          <p:nvPr/>
        </p:nvSpPr>
        <p:spPr>
          <a:xfrm>
            <a:off x="1051084" y="4246959"/>
            <a:ext cx="3261598" cy="4238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Train Multiple Models</a:t>
            </a:r>
            <a:endParaRPr b="0" i="0" sz="2550" u="none" cap="none" strike="noStrike"/>
          </a:p>
        </p:txBody>
      </p:sp>
      <p:sp>
        <p:nvSpPr>
          <p:cNvPr id="143" name="Google Shape;143;p16"/>
          <p:cNvSpPr/>
          <p:nvPr/>
        </p:nvSpPr>
        <p:spPr>
          <a:xfrm>
            <a:off x="1051084" y="4806910"/>
            <a:ext cx="3681770" cy="1179195"/>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Create several base models, each learning from the data in slightly different ways or from different subsets</a:t>
            </a:r>
            <a:endParaRPr b="0" i="0" sz="1750" u="none" cap="none" strike="noStrike"/>
          </a:p>
        </p:txBody>
      </p:sp>
      <p:sp>
        <p:nvSpPr>
          <p:cNvPr id="144" name="Google Shape;144;p16"/>
          <p:cNvSpPr/>
          <p:nvPr/>
        </p:nvSpPr>
        <p:spPr>
          <a:xfrm>
            <a:off x="5216962" y="3679984"/>
            <a:ext cx="4196358" cy="2692479"/>
          </a:xfrm>
          <a:prstGeom prst="roundRect">
            <a:avLst>
              <a:gd fmla="val 5434" name="adj"/>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6"/>
          <p:cNvSpPr/>
          <p:nvPr/>
        </p:nvSpPr>
        <p:spPr>
          <a:xfrm>
            <a:off x="5216962" y="3649504"/>
            <a:ext cx="4196358" cy="121920"/>
          </a:xfrm>
          <a:prstGeom prst="roundRect">
            <a:avLst>
              <a:gd fmla="val 78139"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6"/>
          <p:cNvSpPr/>
          <p:nvPr/>
        </p:nvSpPr>
        <p:spPr>
          <a:xfrm>
            <a:off x="6974860" y="3339822"/>
            <a:ext cx="680442" cy="680442"/>
          </a:xfrm>
          <a:prstGeom prst="roundRect">
            <a:avLst>
              <a:gd fmla="val 134383"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6"/>
          <p:cNvSpPr/>
          <p:nvPr/>
        </p:nvSpPr>
        <p:spPr>
          <a:xfrm>
            <a:off x="7178933" y="3503176"/>
            <a:ext cx="272177" cy="353735"/>
          </a:xfrm>
          <a:prstGeom prst="rect">
            <a:avLst/>
          </a:prstGeom>
          <a:noFill/>
          <a:ln>
            <a:noFill/>
          </a:ln>
        </p:spPr>
        <p:txBody>
          <a:bodyPr anchorCtr="0" anchor="t" bIns="0" lIns="0" spcFirstLastPara="1" rIns="0" wrap="square" tIns="0">
            <a:noAutofit/>
          </a:bodyPr>
          <a:lstStyle/>
          <a:p>
            <a:pPr indent="0" lvl="0" marL="0" marR="0" rtl="0" algn="l">
              <a:lnSpc>
                <a:spcPct val="130952"/>
              </a:lnSpc>
              <a:spcBef>
                <a:spcPts val="0"/>
              </a:spcBef>
              <a:spcAft>
                <a:spcPts val="0"/>
              </a:spcAft>
              <a:buClr>
                <a:srgbClr val="000000"/>
              </a:buClr>
              <a:buSzPts val="2100"/>
              <a:buFont typeface="Marcellus"/>
              <a:buNone/>
            </a:pPr>
            <a:r>
              <a:rPr b="0" i="0" lang="en-US" sz="2100" u="none" cap="none" strike="noStrike">
                <a:solidFill>
                  <a:srgbClr val="000000"/>
                </a:solidFill>
                <a:latin typeface="Marcellus"/>
                <a:ea typeface="Marcellus"/>
                <a:cs typeface="Marcellus"/>
                <a:sym typeface="Marcellus"/>
              </a:rPr>
              <a:t>2</a:t>
            </a:r>
            <a:endParaRPr b="0" i="0" sz="2100" u="none" cap="none" strike="noStrike"/>
          </a:p>
        </p:txBody>
      </p:sp>
      <p:sp>
        <p:nvSpPr>
          <p:cNvPr id="148" name="Google Shape;148;p16"/>
          <p:cNvSpPr/>
          <p:nvPr/>
        </p:nvSpPr>
        <p:spPr>
          <a:xfrm>
            <a:off x="5474256" y="4246959"/>
            <a:ext cx="3681770" cy="847725"/>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Generate Individual Predictions</a:t>
            </a:r>
            <a:endParaRPr b="0" i="0" sz="2550" u="none" cap="none" strike="noStrike"/>
          </a:p>
        </p:txBody>
      </p:sp>
      <p:sp>
        <p:nvSpPr>
          <p:cNvPr id="149" name="Google Shape;149;p16"/>
          <p:cNvSpPr/>
          <p:nvPr/>
        </p:nvSpPr>
        <p:spPr>
          <a:xfrm>
            <a:off x="5474256" y="5230773"/>
            <a:ext cx="3681770" cy="884396"/>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Each model makes its own independent prediction based on its learned patterns</a:t>
            </a:r>
            <a:endParaRPr b="0" i="0" sz="1750" u="none" cap="none" strike="noStrike"/>
          </a:p>
        </p:txBody>
      </p:sp>
      <p:sp>
        <p:nvSpPr>
          <p:cNvPr id="150" name="Google Shape;150;p16"/>
          <p:cNvSpPr/>
          <p:nvPr/>
        </p:nvSpPr>
        <p:spPr>
          <a:xfrm>
            <a:off x="9640133" y="3679984"/>
            <a:ext cx="4196358" cy="2692479"/>
          </a:xfrm>
          <a:prstGeom prst="roundRect">
            <a:avLst>
              <a:gd fmla="val 5434" name="adj"/>
            </a:avLst>
          </a:prstGeom>
          <a:solidFill>
            <a:srgbClr val="FFFFF4">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6"/>
          <p:cNvSpPr/>
          <p:nvPr/>
        </p:nvSpPr>
        <p:spPr>
          <a:xfrm>
            <a:off x="9640133" y="3649504"/>
            <a:ext cx="4196358" cy="121920"/>
          </a:xfrm>
          <a:prstGeom prst="roundRect">
            <a:avLst>
              <a:gd fmla="val 78139"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6"/>
          <p:cNvSpPr/>
          <p:nvPr/>
        </p:nvSpPr>
        <p:spPr>
          <a:xfrm>
            <a:off x="11398032" y="3339822"/>
            <a:ext cx="680442" cy="680442"/>
          </a:xfrm>
          <a:prstGeom prst="roundRect">
            <a:avLst>
              <a:gd fmla="val 134383"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6"/>
          <p:cNvSpPr/>
          <p:nvPr/>
        </p:nvSpPr>
        <p:spPr>
          <a:xfrm>
            <a:off x="11602105" y="3503176"/>
            <a:ext cx="272177" cy="353735"/>
          </a:xfrm>
          <a:prstGeom prst="rect">
            <a:avLst/>
          </a:prstGeom>
          <a:noFill/>
          <a:ln>
            <a:noFill/>
          </a:ln>
        </p:spPr>
        <p:txBody>
          <a:bodyPr anchorCtr="0" anchor="t" bIns="0" lIns="0" spcFirstLastPara="1" rIns="0" wrap="square" tIns="0">
            <a:noAutofit/>
          </a:bodyPr>
          <a:lstStyle/>
          <a:p>
            <a:pPr indent="0" lvl="0" marL="0" marR="0" rtl="0" algn="l">
              <a:lnSpc>
                <a:spcPct val="130952"/>
              </a:lnSpc>
              <a:spcBef>
                <a:spcPts val="0"/>
              </a:spcBef>
              <a:spcAft>
                <a:spcPts val="0"/>
              </a:spcAft>
              <a:buClr>
                <a:srgbClr val="000000"/>
              </a:buClr>
              <a:buSzPts val="2100"/>
              <a:buFont typeface="Marcellus"/>
              <a:buNone/>
            </a:pPr>
            <a:r>
              <a:rPr b="0" i="0" lang="en-US" sz="2100" u="none" cap="none" strike="noStrike">
                <a:solidFill>
                  <a:srgbClr val="000000"/>
                </a:solidFill>
                <a:latin typeface="Marcellus"/>
                <a:ea typeface="Marcellus"/>
                <a:cs typeface="Marcellus"/>
                <a:sym typeface="Marcellus"/>
              </a:rPr>
              <a:t>3</a:t>
            </a:r>
            <a:endParaRPr b="0" i="0" sz="2100" u="none" cap="none" strike="noStrike"/>
          </a:p>
        </p:txBody>
      </p:sp>
      <p:sp>
        <p:nvSpPr>
          <p:cNvPr id="154" name="Google Shape;154;p16"/>
          <p:cNvSpPr/>
          <p:nvPr/>
        </p:nvSpPr>
        <p:spPr>
          <a:xfrm>
            <a:off x="9897427" y="4246959"/>
            <a:ext cx="3260646" cy="4238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Combine Results</a:t>
            </a:r>
            <a:endParaRPr b="0" i="0" sz="2550" u="none" cap="none" strike="noStrike"/>
          </a:p>
        </p:txBody>
      </p:sp>
      <p:sp>
        <p:nvSpPr>
          <p:cNvPr id="155" name="Google Shape;155;p16"/>
          <p:cNvSpPr/>
          <p:nvPr/>
        </p:nvSpPr>
        <p:spPr>
          <a:xfrm>
            <a:off x="9897427" y="4806910"/>
            <a:ext cx="3681770" cy="1179195"/>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Aggregate all predictions into one final output that's typically more accurate than any single model</a:t>
            </a:r>
            <a:endParaRPr b="0" i="0" sz="1750" u="none" cap="none" strike="noStrike"/>
          </a:p>
        </p:txBody>
      </p:sp>
      <p:sp>
        <p:nvSpPr>
          <p:cNvPr id="156" name="Google Shape;156;p16"/>
          <p:cNvSpPr/>
          <p:nvPr/>
        </p:nvSpPr>
        <p:spPr>
          <a:xfrm>
            <a:off x="793790" y="6627614"/>
            <a:ext cx="13042821" cy="589598"/>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This approach improves overall performance by reducing the impact of individual model weaknesses and leveraging their collective strengths.</a:t>
            </a:r>
            <a:endParaRPr b="0" i="0" sz="17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7"/>
          <p:cNvSpPr/>
          <p:nvPr/>
        </p:nvSpPr>
        <p:spPr>
          <a:xfrm>
            <a:off x="793790" y="1011079"/>
            <a:ext cx="8484300" cy="847800"/>
          </a:xfrm>
          <a:prstGeom prst="rect">
            <a:avLst/>
          </a:prstGeom>
          <a:noFill/>
          <a:ln>
            <a:noFill/>
          </a:ln>
        </p:spPr>
        <p:txBody>
          <a:bodyPr anchorCtr="0" anchor="t" bIns="0" lIns="0" spcFirstLastPara="1" rIns="0" wrap="square" tIns="0">
            <a:noAutofit/>
          </a:bodyPr>
          <a:lstStyle/>
          <a:p>
            <a:pPr indent="0" lvl="0" marL="0" marR="0" rtl="0" algn="l">
              <a:lnSpc>
                <a:spcPct val="130392"/>
              </a:lnSpc>
              <a:spcBef>
                <a:spcPts val="0"/>
              </a:spcBef>
              <a:spcAft>
                <a:spcPts val="0"/>
              </a:spcAft>
              <a:buClr>
                <a:srgbClr val="532418"/>
              </a:buClr>
              <a:buSzPts val="5100"/>
              <a:buFont typeface="Marcellus"/>
              <a:buNone/>
            </a:pPr>
            <a:r>
              <a:rPr b="0" i="0" lang="en-US" sz="5100" u="none" cap="none" strike="noStrike">
                <a:solidFill>
                  <a:srgbClr val="532418"/>
                </a:solidFill>
                <a:latin typeface="Marcellus"/>
                <a:ea typeface="Marcellus"/>
                <a:cs typeface="Marcellus"/>
                <a:sym typeface="Marcellus"/>
              </a:rPr>
              <a:t>Ensemble Methods Examples</a:t>
            </a:r>
            <a:endParaRPr b="0" i="0" sz="5100" u="none" cap="none" strike="noStrike"/>
          </a:p>
        </p:txBody>
      </p:sp>
      <p:pic>
        <p:nvPicPr>
          <p:cNvPr descr="preencoded.png" id="163" name="Google Shape;163;p17"/>
          <p:cNvPicPr preferRelativeResize="0"/>
          <p:nvPr/>
        </p:nvPicPr>
        <p:blipFill rotWithShape="1">
          <a:blip r:embed="rId3">
            <a:alphaModFix/>
          </a:blip>
          <a:srcRect b="0" l="0" r="0" t="0"/>
          <a:stretch/>
        </p:blipFill>
        <p:spPr>
          <a:xfrm>
            <a:off x="793790" y="2454116"/>
            <a:ext cx="5564863" cy="4010382"/>
          </a:xfrm>
          <a:prstGeom prst="rect">
            <a:avLst/>
          </a:prstGeom>
          <a:noFill/>
          <a:ln>
            <a:noFill/>
          </a:ln>
        </p:spPr>
      </p:pic>
      <p:sp>
        <p:nvSpPr>
          <p:cNvPr id="164" name="Google Shape;164;p17"/>
          <p:cNvSpPr/>
          <p:nvPr/>
        </p:nvSpPr>
        <p:spPr>
          <a:xfrm>
            <a:off x="793790" y="6719649"/>
            <a:ext cx="5565000" cy="294900"/>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Example: Bagging approach</a:t>
            </a:r>
            <a:endParaRPr b="0" i="0" sz="1750" u="none" cap="none" strike="noStrike"/>
          </a:p>
        </p:txBody>
      </p:sp>
      <p:pic>
        <p:nvPicPr>
          <p:cNvPr descr="preencoded.png" id="165" name="Google Shape;165;p17"/>
          <p:cNvPicPr preferRelativeResize="0"/>
          <p:nvPr/>
        </p:nvPicPr>
        <p:blipFill rotWithShape="1">
          <a:blip r:embed="rId4">
            <a:alphaModFix/>
          </a:blip>
          <a:srcRect b="0" l="0" r="0" t="0"/>
          <a:stretch/>
        </p:blipFill>
        <p:spPr>
          <a:xfrm>
            <a:off x="6919674" y="2454116"/>
            <a:ext cx="6924435" cy="3470790"/>
          </a:xfrm>
          <a:prstGeom prst="rect">
            <a:avLst/>
          </a:prstGeom>
          <a:noFill/>
          <a:ln>
            <a:noFill/>
          </a:ln>
        </p:spPr>
      </p:pic>
      <p:sp>
        <p:nvSpPr>
          <p:cNvPr id="166" name="Google Shape;166;p17"/>
          <p:cNvSpPr/>
          <p:nvPr/>
        </p:nvSpPr>
        <p:spPr>
          <a:xfrm>
            <a:off x="6919674" y="6180058"/>
            <a:ext cx="6924300" cy="294900"/>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Example: Boosting approach</a:t>
            </a:r>
            <a:endParaRPr b="0" i="0" sz="175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8"/>
          <p:cNvSpPr/>
          <p:nvPr/>
        </p:nvSpPr>
        <p:spPr>
          <a:xfrm>
            <a:off x="717471" y="564475"/>
            <a:ext cx="8835509" cy="766167"/>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532418"/>
              </a:buClr>
              <a:buSzPts val="4600"/>
              <a:buFont typeface="Marcellus"/>
              <a:buNone/>
            </a:pPr>
            <a:r>
              <a:rPr b="0" i="0" lang="en-US" sz="4600" u="none" cap="none" strike="noStrike">
                <a:solidFill>
                  <a:srgbClr val="532418"/>
                </a:solidFill>
                <a:latin typeface="Marcellus"/>
                <a:ea typeface="Marcellus"/>
                <a:cs typeface="Marcellus"/>
                <a:sym typeface="Marcellus"/>
              </a:rPr>
              <a:t>How Ensembles Combine Models</a:t>
            </a:r>
            <a:endParaRPr b="0" i="0" sz="4600" u="none" cap="none" strike="noStrike"/>
          </a:p>
        </p:txBody>
      </p:sp>
      <p:sp>
        <p:nvSpPr>
          <p:cNvPr id="173" name="Google Shape;173;p18"/>
          <p:cNvSpPr/>
          <p:nvPr/>
        </p:nvSpPr>
        <p:spPr>
          <a:xfrm>
            <a:off x="717471" y="1842968"/>
            <a:ext cx="3536156" cy="459700"/>
          </a:xfrm>
          <a:prstGeom prst="rect">
            <a:avLst/>
          </a:prstGeom>
          <a:noFill/>
          <a:ln>
            <a:noFill/>
          </a:ln>
        </p:spPr>
        <p:txBody>
          <a:bodyPr anchorCtr="0" anchor="t" bIns="0" lIns="0" spcFirstLastPara="1" rIns="0" wrap="square" tIns="0">
            <a:noAutofit/>
          </a:bodyPr>
          <a:lstStyle/>
          <a:p>
            <a:pPr indent="0" lvl="0" marL="0" marR="0" rtl="0" algn="l">
              <a:lnSpc>
                <a:spcPct val="130909"/>
              </a:lnSpc>
              <a:spcBef>
                <a:spcPts val="0"/>
              </a:spcBef>
              <a:spcAft>
                <a:spcPts val="0"/>
              </a:spcAft>
              <a:buClr>
                <a:srgbClr val="532418"/>
              </a:buClr>
              <a:buSzPts val="2750"/>
              <a:buFont typeface="Marcellus"/>
              <a:buNone/>
            </a:pPr>
            <a:r>
              <a:rPr b="0" i="0" lang="en-US" sz="2750" u="none" cap="none" strike="noStrike">
                <a:solidFill>
                  <a:srgbClr val="532418"/>
                </a:solidFill>
                <a:latin typeface="Marcellus"/>
                <a:ea typeface="Marcellus"/>
                <a:cs typeface="Marcellus"/>
                <a:sym typeface="Marcellus"/>
              </a:rPr>
              <a:t>Classification Tasks</a:t>
            </a:r>
            <a:endParaRPr b="0" i="0" sz="2750" u="none" cap="none" strike="noStrike"/>
          </a:p>
        </p:txBody>
      </p:sp>
      <p:sp>
        <p:nvSpPr>
          <p:cNvPr id="174" name="Google Shape;174;p18"/>
          <p:cNvSpPr/>
          <p:nvPr/>
        </p:nvSpPr>
        <p:spPr>
          <a:xfrm>
            <a:off x="717471" y="2507575"/>
            <a:ext cx="6347698" cy="799386"/>
          </a:xfrm>
          <a:prstGeom prst="rect">
            <a:avLst/>
          </a:prstGeom>
          <a:noFill/>
          <a:ln>
            <a:noFill/>
          </a:ln>
        </p:spPr>
        <p:txBody>
          <a:bodyPr anchorCtr="0" anchor="t" bIns="0" lIns="0" spcFirstLastPara="1" rIns="0" wrap="square" tIns="0">
            <a:noAutofit/>
          </a:bodyPr>
          <a:lstStyle/>
          <a:p>
            <a:pPr indent="0" lvl="0" marL="0" marR="0" rtl="0" algn="l">
              <a:lnSpc>
                <a:spcPct val="128125"/>
              </a:lnSpc>
              <a:spcBef>
                <a:spcPts val="0"/>
              </a:spcBef>
              <a:spcAft>
                <a:spcPts val="0"/>
              </a:spcAft>
              <a:buClr>
                <a:srgbClr val="67534F"/>
              </a:buClr>
              <a:buSzPts val="1600"/>
              <a:buFont typeface="Montserrat"/>
              <a:buNone/>
            </a:pPr>
            <a:r>
              <a:rPr b="0" i="0" lang="en-US" sz="1600" u="none" cap="none" strike="noStrike">
                <a:solidFill>
                  <a:srgbClr val="67534F"/>
                </a:solidFill>
                <a:latin typeface="Montserrat"/>
                <a:ea typeface="Montserrat"/>
                <a:cs typeface="Montserrat"/>
                <a:sym typeface="Montserrat"/>
              </a:rPr>
              <a:t>For classification problems, ensembles use </a:t>
            </a:r>
            <a:r>
              <a:rPr b="1" i="0" lang="en-US" sz="1600" u="none" cap="none" strike="noStrike">
                <a:solidFill>
                  <a:srgbClr val="FF954F"/>
                </a:solidFill>
                <a:latin typeface="Montserrat"/>
                <a:ea typeface="Montserrat"/>
                <a:cs typeface="Montserrat"/>
                <a:sym typeface="Montserrat"/>
              </a:rPr>
              <a:t>majority voting</a:t>
            </a:r>
            <a:r>
              <a:rPr b="0" i="0" lang="en-US" sz="1600" u="none" cap="none" strike="noStrike">
                <a:solidFill>
                  <a:srgbClr val="67534F"/>
                </a:solidFill>
                <a:latin typeface="Montserrat"/>
                <a:ea typeface="Montserrat"/>
                <a:cs typeface="Montserrat"/>
                <a:sym typeface="Montserrat"/>
              </a:rPr>
              <a:t>. Each model casts a vote for a class, and the class with the most votes becomes the final prediction.</a:t>
            </a:r>
            <a:endParaRPr b="0" i="0" sz="1600" u="none" cap="none" strike="noStrike"/>
          </a:p>
        </p:txBody>
      </p:sp>
      <p:sp>
        <p:nvSpPr>
          <p:cNvPr id="175" name="Google Shape;175;p18"/>
          <p:cNvSpPr/>
          <p:nvPr/>
        </p:nvSpPr>
        <p:spPr>
          <a:xfrm>
            <a:off x="717471" y="3491389"/>
            <a:ext cx="6347698" cy="532924"/>
          </a:xfrm>
          <a:prstGeom prst="rect">
            <a:avLst/>
          </a:prstGeom>
          <a:noFill/>
          <a:ln>
            <a:noFill/>
          </a:ln>
        </p:spPr>
        <p:txBody>
          <a:bodyPr anchorCtr="0" anchor="t" bIns="0" lIns="0" spcFirstLastPara="1" rIns="0" wrap="square" tIns="0">
            <a:noAutofit/>
          </a:bodyPr>
          <a:lstStyle/>
          <a:p>
            <a:pPr indent="0" lvl="0" marL="0" marR="0" rtl="0" algn="l">
              <a:lnSpc>
                <a:spcPct val="128125"/>
              </a:lnSpc>
              <a:spcBef>
                <a:spcPts val="0"/>
              </a:spcBef>
              <a:spcAft>
                <a:spcPts val="0"/>
              </a:spcAft>
              <a:buClr>
                <a:srgbClr val="67534F"/>
              </a:buClr>
              <a:buSzPts val="1600"/>
              <a:buFont typeface="Montserrat"/>
              <a:buNone/>
            </a:pPr>
            <a:r>
              <a:rPr b="0" i="0" lang="en-US" sz="1600" u="none" cap="none" strike="noStrike">
                <a:solidFill>
                  <a:srgbClr val="67534F"/>
                </a:solidFill>
                <a:latin typeface="Montserrat"/>
                <a:ea typeface="Montserrat"/>
                <a:cs typeface="Montserrat"/>
                <a:sym typeface="Montserrat"/>
              </a:rPr>
              <a:t>For example, if 7 out of 10 trees predict "spam" and 3 predict "not spam," the ensemble outputs "spam."</a:t>
            </a:r>
            <a:endParaRPr b="0" i="0" sz="1600" u="none" cap="none" strike="noStrike"/>
          </a:p>
        </p:txBody>
      </p:sp>
      <p:sp>
        <p:nvSpPr>
          <p:cNvPr id="176" name="Google Shape;176;p18"/>
          <p:cNvSpPr/>
          <p:nvPr/>
        </p:nvSpPr>
        <p:spPr>
          <a:xfrm>
            <a:off x="7572851" y="1842968"/>
            <a:ext cx="3536156" cy="459700"/>
          </a:xfrm>
          <a:prstGeom prst="rect">
            <a:avLst/>
          </a:prstGeom>
          <a:noFill/>
          <a:ln>
            <a:noFill/>
          </a:ln>
        </p:spPr>
        <p:txBody>
          <a:bodyPr anchorCtr="0" anchor="t" bIns="0" lIns="0" spcFirstLastPara="1" rIns="0" wrap="square" tIns="0">
            <a:noAutofit/>
          </a:bodyPr>
          <a:lstStyle/>
          <a:p>
            <a:pPr indent="0" lvl="0" marL="0" marR="0" rtl="0" algn="l">
              <a:lnSpc>
                <a:spcPct val="130909"/>
              </a:lnSpc>
              <a:spcBef>
                <a:spcPts val="0"/>
              </a:spcBef>
              <a:spcAft>
                <a:spcPts val="0"/>
              </a:spcAft>
              <a:buClr>
                <a:srgbClr val="532418"/>
              </a:buClr>
              <a:buSzPts val="2750"/>
              <a:buFont typeface="Marcellus"/>
              <a:buNone/>
            </a:pPr>
            <a:r>
              <a:rPr b="0" i="0" lang="en-US" sz="2750" u="none" cap="none" strike="noStrike">
                <a:solidFill>
                  <a:srgbClr val="532418"/>
                </a:solidFill>
                <a:latin typeface="Marcellus"/>
                <a:ea typeface="Marcellus"/>
                <a:cs typeface="Marcellus"/>
                <a:sym typeface="Marcellus"/>
              </a:rPr>
              <a:t>Regression Tasks</a:t>
            </a:r>
            <a:endParaRPr b="0" i="0" sz="2750" u="none" cap="none" strike="noStrike"/>
          </a:p>
        </p:txBody>
      </p:sp>
      <p:sp>
        <p:nvSpPr>
          <p:cNvPr id="177" name="Google Shape;177;p18"/>
          <p:cNvSpPr/>
          <p:nvPr/>
        </p:nvSpPr>
        <p:spPr>
          <a:xfrm>
            <a:off x="7572851" y="2507575"/>
            <a:ext cx="6347698" cy="799386"/>
          </a:xfrm>
          <a:prstGeom prst="rect">
            <a:avLst/>
          </a:prstGeom>
          <a:noFill/>
          <a:ln>
            <a:noFill/>
          </a:ln>
        </p:spPr>
        <p:txBody>
          <a:bodyPr anchorCtr="0" anchor="t" bIns="0" lIns="0" spcFirstLastPara="1" rIns="0" wrap="square" tIns="0">
            <a:noAutofit/>
          </a:bodyPr>
          <a:lstStyle/>
          <a:p>
            <a:pPr indent="0" lvl="0" marL="0" marR="0" rtl="0" algn="l">
              <a:lnSpc>
                <a:spcPct val="128125"/>
              </a:lnSpc>
              <a:spcBef>
                <a:spcPts val="0"/>
              </a:spcBef>
              <a:spcAft>
                <a:spcPts val="0"/>
              </a:spcAft>
              <a:buClr>
                <a:srgbClr val="67534F"/>
              </a:buClr>
              <a:buSzPts val="1600"/>
              <a:buFont typeface="Montserrat"/>
              <a:buNone/>
            </a:pPr>
            <a:r>
              <a:rPr b="0" i="0" lang="en-US" sz="1600" u="none" cap="none" strike="noStrike">
                <a:solidFill>
                  <a:srgbClr val="67534F"/>
                </a:solidFill>
                <a:latin typeface="Montserrat"/>
                <a:ea typeface="Montserrat"/>
                <a:cs typeface="Montserrat"/>
                <a:sym typeface="Montserrat"/>
              </a:rPr>
              <a:t>For regression problems, ensembles use </a:t>
            </a:r>
            <a:r>
              <a:rPr b="1" i="0" lang="en-US" sz="1600" u="none" cap="none" strike="noStrike">
                <a:solidFill>
                  <a:srgbClr val="FF954F"/>
                </a:solidFill>
                <a:latin typeface="Montserrat"/>
                <a:ea typeface="Montserrat"/>
                <a:cs typeface="Montserrat"/>
                <a:sym typeface="Montserrat"/>
              </a:rPr>
              <a:t>averaging</a:t>
            </a:r>
            <a:r>
              <a:rPr b="0" i="0" lang="en-US" sz="1600" u="none" cap="none" strike="noStrike">
                <a:solidFill>
                  <a:srgbClr val="67534F"/>
                </a:solidFill>
                <a:latin typeface="Montserrat"/>
                <a:ea typeface="Montserrat"/>
                <a:cs typeface="Montserrat"/>
                <a:sym typeface="Montserrat"/>
              </a:rPr>
              <a:t>. The predicted values from all models are averaged to produce the final continuous output.</a:t>
            </a:r>
            <a:endParaRPr b="0" i="0" sz="1600" u="none" cap="none" strike="noStrike"/>
          </a:p>
        </p:txBody>
      </p:sp>
      <p:sp>
        <p:nvSpPr>
          <p:cNvPr id="178" name="Google Shape;178;p18"/>
          <p:cNvSpPr/>
          <p:nvPr/>
        </p:nvSpPr>
        <p:spPr>
          <a:xfrm>
            <a:off x="7572851" y="3491389"/>
            <a:ext cx="6347698" cy="532924"/>
          </a:xfrm>
          <a:prstGeom prst="rect">
            <a:avLst/>
          </a:prstGeom>
          <a:noFill/>
          <a:ln>
            <a:noFill/>
          </a:ln>
        </p:spPr>
        <p:txBody>
          <a:bodyPr anchorCtr="0" anchor="t" bIns="0" lIns="0" spcFirstLastPara="1" rIns="0" wrap="square" tIns="0">
            <a:noAutofit/>
          </a:bodyPr>
          <a:lstStyle/>
          <a:p>
            <a:pPr indent="0" lvl="0" marL="0" marR="0" rtl="0" algn="l">
              <a:lnSpc>
                <a:spcPct val="128125"/>
              </a:lnSpc>
              <a:spcBef>
                <a:spcPts val="0"/>
              </a:spcBef>
              <a:spcAft>
                <a:spcPts val="0"/>
              </a:spcAft>
              <a:buClr>
                <a:srgbClr val="67534F"/>
              </a:buClr>
              <a:buSzPts val="1600"/>
              <a:buFont typeface="Montserrat"/>
              <a:buNone/>
            </a:pPr>
            <a:r>
              <a:rPr b="0" i="0" lang="en-US" sz="1600" u="none" cap="none" strike="noStrike">
                <a:solidFill>
                  <a:srgbClr val="67534F"/>
                </a:solidFill>
                <a:latin typeface="Montserrat"/>
                <a:ea typeface="Montserrat"/>
                <a:cs typeface="Montserrat"/>
                <a:sym typeface="Montserrat"/>
              </a:rPr>
              <a:t>If three trees predict house prices of $310K, $295K, and $305K, the ensemble predicts approximately $303K.</a:t>
            </a:r>
            <a:endParaRPr b="0" i="0" sz="1600" u="none" cap="none" strike="noStrike"/>
          </a:p>
        </p:txBody>
      </p:sp>
      <p:pic>
        <p:nvPicPr>
          <p:cNvPr descr="preencoded.png" id="179" name="Google Shape;179;p18"/>
          <p:cNvPicPr preferRelativeResize="0"/>
          <p:nvPr/>
        </p:nvPicPr>
        <p:blipFill rotWithShape="1">
          <a:blip r:embed="rId3">
            <a:alphaModFix/>
          </a:blip>
          <a:srcRect b="0" l="0" r="0" t="0"/>
          <a:stretch/>
        </p:blipFill>
        <p:spPr>
          <a:xfrm>
            <a:off x="717471" y="4439364"/>
            <a:ext cx="6597729" cy="819983"/>
          </a:xfrm>
          <a:prstGeom prst="rect">
            <a:avLst/>
          </a:prstGeom>
          <a:noFill/>
          <a:ln>
            <a:noFill/>
          </a:ln>
        </p:spPr>
      </p:pic>
      <p:sp>
        <p:nvSpPr>
          <p:cNvPr id="180" name="Google Shape;180;p18"/>
          <p:cNvSpPr/>
          <p:nvPr/>
        </p:nvSpPr>
        <p:spPr>
          <a:xfrm>
            <a:off x="922377" y="5464254"/>
            <a:ext cx="2946797" cy="383024"/>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67534F"/>
              </a:buClr>
              <a:buSzPts val="2300"/>
              <a:buFont typeface="Marcellus"/>
              <a:buNone/>
            </a:pPr>
            <a:r>
              <a:rPr b="0" i="0" lang="en-US" sz="2300" u="none" cap="none" strike="noStrike">
                <a:solidFill>
                  <a:srgbClr val="67534F"/>
                </a:solidFill>
                <a:latin typeface="Marcellus"/>
                <a:ea typeface="Marcellus"/>
                <a:cs typeface="Marcellus"/>
                <a:sym typeface="Marcellus"/>
              </a:rPr>
              <a:t>Multiple Base Models</a:t>
            </a:r>
            <a:endParaRPr b="0" i="0" sz="2300" u="none" cap="none" strike="noStrike"/>
          </a:p>
        </p:txBody>
      </p:sp>
      <p:pic>
        <p:nvPicPr>
          <p:cNvPr descr="preencoded.png" id="181" name="Google Shape;181;p18"/>
          <p:cNvPicPr preferRelativeResize="0"/>
          <p:nvPr/>
        </p:nvPicPr>
        <p:blipFill rotWithShape="1">
          <a:blip r:embed="rId4">
            <a:alphaModFix/>
          </a:blip>
          <a:srcRect b="0" l="0" r="0" t="0"/>
          <a:stretch/>
        </p:blipFill>
        <p:spPr>
          <a:xfrm>
            <a:off x="7315200" y="4439364"/>
            <a:ext cx="6597729" cy="819983"/>
          </a:xfrm>
          <a:prstGeom prst="rect">
            <a:avLst/>
          </a:prstGeom>
          <a:noFill/>
          <a:ln>
            <a:noFill/>
          </a:ln>
        </p:spPr>
      </p:pic>
      <p:sp>
        <p:nvSpPr>
          <p:cNvPr id="182" name="Google Shape;182;p18"/>
          <p:cNvSpPr/>
          <p:nvPr/>
        </p:nvSpPr>
        <p:spPr>
          <a:xfrm>
            <a:off x="7520107" y="5464254"/>
            <a:ext cx="2946797" cy="383024"/>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67534F"/>
              </a:buClr>
              <a:buSzPts val="2300"/>
              <a:buFont typeface="Marcellus"/>
              <a:buNone/>
            </a:pPr>
            <a:r>
              <a:rPr b="0" i="0" lang="en-US" sz="2300" u="none" cap="none" strike="noStrike">
                <a:solidFill>
                  <a:srgbClr val="67534F"/>
                </a:solidFill>
                <a:latin typeface="Marcellus"/>
                <a:ea typeface="Marcellus"/>
                <a:cs typeface="Marcellus"/>
                <a:sym typeface="Marcellus"/>
              </a:rPr>
              <a:t>Individual Predictions</a:t>
            </a:r>
            <a:endParaRPr b="0" i="0" sz="2300" u="none" cap="none" strike="noStrike"/>
          </a:p>
        </p:txBody>
      </p:sp>
      <p:pic>
        <p:nvPicPr>
          <p:cNvPr descr="preencoded.png" id="183" name="Google Shape;183;p18"/>
          <p:cNvPicPr preferRelativeResize="0"/>
          <p:nvPr/>
        </p:nvPicPr>
        <p:blipFill rotWithShape="1">
          <a:blip r:embed="rId5">
            <a:alphaModFix/>
          </a:blip>
          <a:srcRect b="0" l="0" r="0" t="0"/>
          <a:stretch/>
        </p:blipFill>
        <p:spPr>
          <a:xfrm>
            <a:off x="717471" y="6052185"/>
            <a:ext cx="6597729" cy="819983"/>
          </a:xfrm>
          <a:prstGeom prst="rect">
            <a:avLst/>
          </a:prstGeom>
          <a:noFill/>
          <a:ln>
            <a:noFill/>
          </a:ln>
        </p:spPr>
      </p:pic>
      <p:sp>
        <p:nvSpPr>
          <p:cNvPr id="184" name="Google Shape;184;p18"/>
          <p:cNvSpPr/>
          <p:nvPr/>
        </p:nvSpPr>
        <p:spPr>
          <a:xfrm>
            <a:off x="922377" y="7077075"/>
            <a:ext cx="2946797" cy="383024"/>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67534F"/>
              </a:buClr>
              <a:buSzPts val="2300"/>
              <a:buFont typeface="Marcellus"/>
              <a:buNone/>
            </a:pPr>
            <a:r>
              <a:rPr b="0" i="0" lang="en-US" sz="2300" u="none" cap="none" strike="noStrike">
                <a:solidFill>
                  <a:srgbClr val="67534F"/>
                </a:solidFill>
                <a:latin typeface="Marcellus"/>
                <a:ea typeface="Marcellus"/>
                <a:cs typeface="Marcellus"/>
                <a:sym typeface="Marcellus"/>
              </a:rPr>
              <a:t>Aggregation Method</a:t>
            </a:r>
            <a:endParaRPr b="0" i="0" sz="2300" u="none" cap="none" strike="noStrike"/>
          </a:p>
        </p:txBody>
      </p:sp>
      <p:pic>
        <p:nvPicPr>
          <p:cNvPr descr="preencoded.png" id="185" name="Google Shape;185;p18"/>
          <p:cNvPicPr preferRelativeResize="0"/>
          <p:nvPr/>
        </p:nvPicPr>
        <p:blipFill rotWithShape="1">
          <a:blip r:embed="rId6">
            <a:alphaModFix/>
          </a:blip>
          <a:srcRect b="0" l="0" r="0" t="0"/>
          <a:stretch/>
        </p:blipFill>
        <p:spPr>
          <a:xfrm>
            <a:off x="7315200" y="6052185"/>
            <a:ext cx="6597729" cy="819983"/>
          </a:xfrm>
          <a:prstGeom prst="rect">
            <a:avLst/>
          </a:prstGeom>
          <a:noFill/>
          <a:ln>
            <a:noFill/>
          </a:ln>
        </p:spPr>
      </p:pic>
      <p:sp>
        <p:nvSpPr>
          <p:cNvPr id="186" name="Google Shape;186;p18"/>
          <p:cNvSpPr/>
          <p:nvPr/>
        </p:nvSpPr>
        <p:spPr>
          <a:xfrm>
            <a:off x="7520107" y="7077075"/>
            <a:ext cx="2946797" cy="383024"/>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67534F"/>
              </a:buClr>
              <a:buSzPts val="2300"/>
              <a:buFont typeface="Marcellus"/>
              <a:buNone/>
            </a:pPr>
            <a:r>
              <a:rPr b="0" i="0" lang="en-US" sz="2300" u="none" cap="none" strike="noStrike">
                <a:solidFill>
                  <a:srgbClr val="67534F"/>
                </a:solidFill>
                <a:latin typeface="Marcellus"/>
                <a:ea typeface="Marcellus"/>
                <a:cs typeface="Marcellus"/>
                <a:sym typeface="Marcellus"/>
              </a:rPr>
              <a:t>Final Prediction</a:t>
            </a:r>
            <a:endParaRPr b="0" i="0" sz="230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9"/>
          <p:cNvSpPr/>
          <p:nvPr/>
        </p:nvSpPr>
        <p:spPr>
          <a:xfrm>
            <a:off x="793790" y="828199"/>
            <a:ext cx="8453914" cy="847725"/>
          </a:xfrm>
          <a:prstGeom prst="rect">
            <a:avLst/>
          </a:prstGeom>
          <a:noFill/>
          <a:ln>
            <a:noFill/>
          </a:ln>
        </p:spPr>
        <p:txBody>
          <a:bodyPr anchorCtr="0" anchor="t" bIns="0" lIns="0" spcFirstLastPara="1" rIns="0" wrap="square" tIns="0">
            <a:noAutofit/>
          </a:bodyPr>
          <a:lstStyle/>
          <a:p>
            <a:pPr indent="0" lvl="0" marL="0" marR="0" rtl="0" algn="l">
              <a:lnSpc>
                <a:spcPct val="130392"/>
              </a:lnSpc>
              <a:spcBef>
                <a:spcPts val="0"/>
              </a:spcBef>
              <a:spcAft>
                <a:spcPts val="0"/>
              </a:spcAft>
              <a:buClr>
                <a:srgbClr val="532418"/>
              </a:buClr>
              <a:buSzPts val="5100"/>
              <a:buFont typeface="Marcellus"/>
              <a:buNone/>
            </a:pPr>
            <a:r>
              <a:rPr b="0" i="0" lang="en-US" sz="5100" u="none" cap="none" strike="noStrike">
                <a:solidFill>
                  <a:srgbClr val="532418"/>
                </a:solidFill>
                <a:latin typeface="Marcellus"/>
                <a:ea typeface="Marcellus"/>
                <a:cs typeface="Marcellus"/>
                <a:sym typeface="Marcellus"/>
              </a:rPr>
              <a:t>Why Ensembles Are Effective</a:t>
            </a:r>
            <a:endParaRPr b="0" i="0" sz="5100" u="none" cap="none" strike="noStrike"/>
          </a:p>
        </p:txBody>
      </p:sp>
      <p:sp>
        <p:nvSpPr>
          <p:cNvPr id="193" name="Google Shape;193;p19"/>
          <p:cNvSpPr/>
          <p:nvPr/>
        </p:nvSpPr>
        <p:spPr>
          <a:xfrm>
            <a:off x="793790" y="2016085"/>
            <a:ext cx="4196358" cy="4030147"/>
          </a:xfrm>
          <a:prstGeom prst="roundRect">
            <a:avLst>
              <a:gd fmla="val 2364" name="adj"/>
            </a:avLst>
          </a:prstGeom>
          <a:solidFill>
            <a:srgbClr val="FFFFF4"/>
          </a:solidFill>
          <a:ln cap="flat" cmpd="sng" w="22850">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9"/>
          <p:cNvSpPr/>
          <p:nvPr/>
        </p:nvSpPr>
        <p:spPr>
          <a:xfrm>
            <a:off x="1043464" y="2265759"/>
            <a:ext cx="680442" cy="680442"/>
          </a:xfrm>
          <a:prstGeom prst="roundRect">
            <a:avLst>
              <a:gd fmla="val 13436980"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5" name="Google Shape;195;p19"/>
          <p:cNvPicPr preferRelativeResize="0"/>
          <p:nvPr/>
        </p:nvPicPr>
        <p:blipFill rotWithShape="1">
          <a:blip r:embed="rId3">
            <a:alphaModFix/>
          </a:blip>
          <a:srcRect b="0" l="0" r="0" t="0"/>
          <a:stretch/>
        </p:blipFill>
        <p:spPr>
          <a:xfrm>
            <a:off x="1230630" y="2452926"/>
            <a:ext cx="306110" cy="306110"/>
          </a:xfrm>
          <a:prstGeom prst="rect">
            <a:avLst/>
          </a:prstGeom>
          <a:noFill/>
          <a:ln>
            <a:noFill/>
          </a:ln>
        </p:spPr>
      </p:pic>
      <p:sp>
        <p:nvSpPr>
          <p:cNvPr id="196" name="Google Shape;196;p19"/>
          <p:cNvSpPr/>
          <p:nvPr/>
        </p:nvSpPr>
        <p:spPr>
          <a:xfrm>
            <a:off x="1043464" y="3173016"/>
            <a:ext cx="3260646" cy="4238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Diverse Perspectives</a:t>
            </a:r>
            <a:endParaRPr b="0" i="0" sz="2550" u="none" cap="none" strike="noStrike"/>
          </a:p>
        </p:txBody>
      </p:sp>
      <p:sp>
        <p:nvSpPr>
          <p:cNvPr id="197" name="Google Shape;197;p19"/>
          <p:cNvSpPr/>
          <p:nvPr/>
        </p:nvSpPr>
        <p:spPr>
          <a:xfrm>
            <a:off x="1043464" y="3732967"/>
            <a:ext cx="3697010" cy="1768793"/>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Different models make different mistakes because they learn different patterns. One tree might overfit to certain features while another captures different relationships in the data.</a:t>
            </a:r>
            <a:endParaRPr b="0" i="0" sz="1750" u="none" cap="none" strike="noStrike"/>
          </a:p>
        </p:txBody>
      </p:sp>
      <p:sp>
        <p:nvSpPr>
          <p:cNvPr id="198" name="Google Shape;198;p19"/>
          <p:cNvSpPr/>
          <p:nvPr/>
        </p:nvSpPr>
        <p:spPr>
          <a:xfrm>
            <a:off x="5216962" y="2016085"/>
            <a:ext cx="4196358" cy="4030147"/>
          </a:xfrm>
          <a:prstGeom prst="roundRect">
            <a:avLst>
              <a:gd fmla="val 2364" name="adj"/>
            </a:avLst>
          </a:prstGeom>
          <a:solidFill>
            <a:srgbClr val="FFFFF4"/>
          </a:solidFill>
          <a:ln cap="flat" cmpd="sng" w="22850">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9"/>
          <p:cNvSpPr/>
          <p:nvPr/>
        </p:nvSpPr>
        <p:spPr>
          <a:xfrm>
            <a:off x="5466636" y="2265759"/>
            <a:ext cx="680442" cy="680442"/>
          </a:xfrm>
          <a:prstGeom prst="roundRect">
            <a:avLst>
              <a:gd fmla="val 13436980"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0" name="Google Shape;200;p19"/>
          <p:cNvPicPr preferRelativeResize="0"/>
          <p:nvPr/>
        </p:nvPicPr>
        <p:blipFill rotWithShape="1">
          <a:blip r:embed="rId4">
            <a:alphaModFix/>
          </a:blip>
          <a:srcRect b="0" l="0" r="0" t="0"/>
          <a:stretch/>
        </p:blipFill>
        <p:spPr>
          <a:xfrm>
            <a:off x="5653802" y="2452926"/>
            <a:ext cx="306110" cy="306110"/>
          </a:xfrm>
          <a:prstGeom prst="rect">
            <a:avLst/>
          </a:prstGeom>
          <a:noFill/>
          <a:ln>
            <a:noFill/>
          </a:ln>
        </p:spPr>
      </p:pic>
      <p:sp>
        <p:nvSpPr>
          <p:cNvPr id="201" name="Google Shape;201;p19"/>
          <p:cNvSpPr/>
          <p:nvPr/>
        </p:nvSpPr>
        <p:spPr>
          <a:xfrm>
            <a:off x="5466636" y="3173016"/>
            <a:ext cx="3260646" cy="4238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Errors Cancel Out</a:t>
            </a:r>
            <a:endParaRPr b="0" i="0" sz="2550" u="none" cap="none" strike="noStrike"/>
          </a:p>
        </p:txBody>
      </p:sp>
      <p:sp>
        <p:nvSpPr>
          <p:cNvPr id="202" name="Google Shape;202;p19"/>
          <p:cNvSpPr/>
          <p:nvPr/>
        </p:nvSpPr>
        <p:spPr>
          <a:xfrm>
            <a:off x="5466636" y="3732967"/>
            <a:ext cx="3697010" cy="2063591"/>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When predictions are combined, individual errors often offset each other. If one model overestimates and another underestimates, averaging brings the prediction closer to the true value.</a:t>
            </a:r>
            <a:endParaRPr b="0" i="0" sz="1750" u="none" cap="none" strike="noStrike"/>
          </a:p>
        </p:txBody>
      </p:sp>
      <p:sp>
        <p:nvSpPr>
          <p:cNvPr id="203" name="Google Shape;203;p19"/>
          <p:cNvSpPr/>
          <p:nvPr/>
        </p:nvSpPr>
        <p:spPr>
          <a:xfrm>
            <a:off x="9640133" y="2016085"/>
            <a:ext cx="4196358" cy="4030147"/>
          </a:xfrm>
          <a:prstGeom prst="roundRect">
            <a:avLst>
              <a:gd fmla="val 2364" name="adj"/>
            </a:avLst>
          </a:prstGeom>
          <a:solidFill>
            <a:srgbClr val="FFFFF4"/>
          </a:solidFill>
          <a:ln cap="flat" cmpd="sng" w="22850">
            <a:solidFill>
              <a:srgbClr val="FFE0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9"/>
          <p:cNvSpPr/>
          <p:nvPr/>
        </p:nvSpPr>
        <p:spPr>
          <a:xfrm>
            <a:off x="9889808" y="2265759"/>
            <a:ext cx="680442" cy="680442"/>
          </a:xfrm>
          <a:prstGeom prst="roundRect">
            <a:avLst>
              <a:gd fmla="val 13436980" name="adj"/>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5" name="Google Shape;205;p19"/>
          <p:cNvPicPr preferRelativeResize="0"/>
          <p:nvPr/>
        </p:nvPicPr>
        <p:blipFill rotWithShape="1">
          <a:blip r:embed="rId5">
            <a:alphaModFix/>
          </a:blip>
          <a:srcRect b="0" l="0" r="0" t="0"/>
          <a:stretch/>
        </p:blipFill>
        <p:spPr>
          <a:xfrm>
            <a:off x="10076974" y="2452926"/>
            <a:ext cx="306110" cy="306110"/>
          </a:xfrm>
          <a:prstGeom prst="rect">
            <a:avLst/>
          </a:prstGeom>
          <a:noFill/>
          <a:ln>
            <a:noFill/>
          </a:ln>
        </p:spPr>
      </p:pic>
      <p:sp>
        <p:nvSpPr>
          <p:cNvPr id="206" name="Google Shape;206;p19"/>
          <p:cNvSpPr/>
          <p:nvPr/>
        </p:nvSpPr>
        <p:spPr>
          <a:xfrm>
            <a:off x="9889808" y="3173016"/>
            <a:ext cx="3260646" cy="423863"/>
          </a:xfrm>
          <a:prstGeom prst="rect">
            <a:avLst/>
          </a:prstGeom>
          <a:noFill/>
          <a:ln>
            <a:noFill/>
          </a:ln>
        </p:spPr>
        <p:txBody>
          <a:bodyPr anchorCtr="0" anchor="t" bIns="0" lIns="0" spcFirstLastPara="1" rIns="0" wrap="square" tIns="0">
            <a:noAutofit/>
          </a:bodyPr>
          <a:lstStyle/>
          <a:p>
            <a:pPr indent="0" lvl="0" marL="0" marR="0" rtl="0" algn="l">
              <a:lnSpc>
                <a:spcPct val="129411"/>
              </a:lnSpc>
              <a:spcBef>
                <a:spcPts val="0"/>
              </a:spcBef>
              <a:spcAft>
                <a:spcPts val="0"/>
              </a:spcAft>
              <a:buClr>
                <a:srgbClr val="67534F"/>
              </a:buClr>
              <a:buSzPts val="2550"/>
              <a:buFont typeface="Marcellus"/>
              <a:buNone/>
            </a:pPr>
            <a:r>
              <a:rPr b="0" i="0" lang="en-US" sz="2550" u="none" cap="none" strike="noStrike">
                <a:solidFill>
                  <a:srgbClr val="67534F"/>
                </a:solidFill>
                <a:latin typeface="Marcellus"/>
                <a:ea typeface="Marcellus"/>
                <a:cs typeface="Marcellus"/>
                <a:sym typeface="Marcellus"/>
              </a:rPr>
              <a:t>Increased Stability</a:t>
            </a:r>
            <a:endParaRPr b="0" i="0" sz="2550" u="none" cap="none" strike="noStrike"/>
          </a:p>
        </p:txBody>
      </p:sp>
      <p:sp>
        <p:nvSpPr>
          <p:cNvPr id="207" name="Google Shape;207;p19"/>
          <p:cNvSpPr/>
          <p:nvPr/>
        </p:nvSpPr>
        <p:spPr>
          <a:xfrm>
            <a:off x="9889808" y="3732967"/>
            <a:ext cx="3697010" cy="2063591"/>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The high variance problem of individual trees is dramatically reduced. The ensemble becomes more robust and reliable, producing consistent predictions even when training data changes slightly.</a:t>
            </a:r>
            <a:endParaRPr b="0" i="0" sz="1750" u="none" cap="none" strike="noStrike"/>
          </a:p>
        </p:txBody>
      </p:sp>
      <p:sp>
        <p:nvSpPr>
          <p:cNvPr id="208" name="Google Shape;208;p19"/>
          <p:cNvSpPr/>
          <p:nvPr/>
        </p:nvSpPr>
        <p:spPr>
          <a:xfrm>
            <a:off x="1133951" y="6556534"/>
            <a:ext cx="12702659" cy="589598"/>
          </a:xfrm>
          <a:prstGeom prst="rect">
            <a:avLst/>
          </a:prstGeom>
          <a:noFill/>
          <a:ln>
            <a:noFill/>
          </a:ln>
        </p:spPr>
        <p:txBody>
          <a:bodyPr anchorCtr="0" anchor="t" bIns="0" lIns="0" spcFirstLastPara="1" rIns="0" wrap="square" tIns="0">
            <a:noAutofit/>
          </a:bodyPr>
          <a:lstStyle/>
          <a:p>
            <a:pPr indent="0" lvl="0" marL="0" marR="0" rtl="0" algn="l">
              <a:lnSpc>
                <a:spcPct val="131428"/>
              </a:lnSpc>
              <a:spcBef>
                <a:spcPts val="0"/>
              </a:spcBef>
              <a:spcAft>
                <a:spcPts val="0"/>
              </a:spcAft>
              <a:buClr>
                <a:srgbClr val="67534F"/>
              </a:buClr>
              <a:buSzPts val="1750"/>
              <a:buFont typeface="Montserrat"/>
              <a:buNone/>
            </a:pPr>
            <a:r>
              <a:rPr b="0" i="0" lang="en-US" sz="1750" u="none" cap="none" strike="noStrike">
                <a:solidFill>
                  <a:srgbClr val="67534F"/>
                </a:solidFill>
                <a:latin typeface="Montserrat"/>
                <a:ea typeface="Montserrat"/>
                <a:cs typeface="Montserrat"/>
                <a:sym typeface="Montserrat"/>
              </a:rPr>
              <a:t>"The whole is greater than the sum of its parts—ensembles transform unstable decision trees into powerful, reliable predictive models."</a:t>
            </a:r>
            <a:endParaRPr b="0" i="0" sz="1750" u="none" cap="none" strike="noStrike"/>
          </a:p>
        </p:txBody>
      </p:sp>
      <p:sp>
        <p:nvSpPr>
          <p:cNvPr id="209" name="Google Shape;209;p19"/>
          <p:cNvSpPr/>
          <p:nvPr/>
        </p:nvSpPr>
        <p:spPr>
          <a:xfrm>
            <a:off x="793790" y="6301383"/>
            <a:ext cx="30480" cy="1099899"/>
          </a:xfrm>
          <a:prstGeom prst="rect">
            <a:avLst/>
          </a:prstGeom>
          <a:solidFill>
            <a:srgbClr val="FF95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